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Rectangle 1"/>
          <p:cNvSpPr/>
          <p:nvPr/>
        </p:nvSpPr>
        <p:spPr>
          <a:xfrm>
            <a:off x="7772400" y="0"/>
            <a:ext cx="4416552" cy="3200400"/>
          </a:xfrm>
          <a:prstGeom prst="rect">
            <a:avLst/>
          </a:prstGeom>
          <a:solidFill>
            <a:srgbClr val="0019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1188720"/>
            <a:ext cx="8531352" cy="1280160"/>
          </a:xfrm>
          <a:prstGeom prst="rect">
            <a:avLst/>
          </a:prstGeom>
          <a:noFill/>
        </p:spPr>
        <p:txBody>
          <a:bodyPr wrap="square">
            <a:spAutoFit/>
          </a:bodyPr>
          <a:lstStyle/>
          <a:p>
            <a:pPr algn="ctr">
              <a:spcBef>
                <a:spcPts val="0"/>
              </a:spcBef>
              <a:spcAft>
                <a:spcPts val="100"/>
              </a:spcAft>
            </a:pPr>
            <a:r>
              <a:rPr sz="5400" b="1">
                <a:solidFill>
                  <a:srgbClr val="00C9FF"/>
                </a:solidFill>
              </a:rPr>
              <a:t>Nephro</a:t>
            </a:r>
            <a:r>
              <a:rPr sz="5400" b="1">
                <a:solidFill>
                  <a:srgbClr val="FFFFFF"/>
                </a:solidFill>
              </a:rPr>
              <a:t>-AI</a:t>
            </a:r>
          </a:p>
        </p:txBody>
      </p:sp>
      <p:sp>
        <p:nvSpPr>
          <p:cNvPr id="4" name="TextBox 3"/>
          <p:cNvSpPr txBox="1"/>
          <p:nvPr/>
        </p:nvSpPr>
        <p:spPr>
          <a:xfrm>
            <a:off x="1371600" y="2578608"/>
            <a:ext cx="9445752" cy="822960"/>
          </a:xfrm>
          <a:prstGeom prst="rect">
            <a:avLst/>
          </a:prstGeom>
          <a:noFill/>
        </p:spPr>
        <p:txBody>
          <a:bodyPr wrap="square">
            <a:spAutoFit/>
          </a:bodyPr>
          <a:lstStyle/>
          <a:p>
            <a:pPr algn="ctr">
              <a:spcBef>
                <a:spcPts val="0"/>
              </a:spcBef>
              <a:spcAft>
                <a:spcPts val="100"/>
              </a:spcAft>
            </a:pPr>
            <a:r>
              <a:rPr sz="1300" b="0" i="0">
                <a:solidFill>
                  <a:srgbClr val="8FABBE"/>
                </a:solidFill>
              </a:rPr>
              <a:t>Non-Invasive Chronic Kidney Disease Risk Screening &amp;</a:t>
            </a:r>
          </a:p>
          <a:p>
            <a:pPr algn="ctr">
              <a:spcBef>
                <a:spcPts val="0"/>
              </a:spcBef>
              <a:spcAft>
                <a:spcPts val="100"/>
              </a:spcAft>
            </a:pPr>
            <a:r>
              <a:rPr sz="1300" b="0" i="1">
                <a:solidFill>
                  <a:srgbClr val="FFFFFF"/>
                </a:solidFill>
              </a:rPr>
              <a:t>Guideline-Grounded Personalised Patient Education</a:t>
            </a:r>
          </a:p>
        </p:txBody>
      </p:sp>
      <p:sp>
        <p:nvSpPr>
          <p:cNvPr id="5" name="Rectangle 4"/>
          <p:cNvSpPr/>
          <p:nvPr/>
        </p:nvSpPr>
        <p:spPr>
          <a:xfrm>
            <a:off x="1828800" y="3566160"/>
            <a:ext cx="1408176" cy="292608"/>
          </a:xfrm>
          <a:prstGeom prst="rect">
            <a:avLst/>
          </a:prstGeom>
          <a:solidFill>
            <a:srgbClr val="00283C"/>
          </a:solidFill>
          <a:ln w="7620">
            <a:solidFill>
              <a:srgbClr val="00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74519" y="3611879"/>
            <a:ext cx="1316736" cy="201168"/>
          </a:xfrm>
          <a:prstGeom prst="rect">
            <a:avLst/>
          </a:prstGeom>
          <a:noFill/>
        </p:spPr>
        <p:txBody>
          <a:bodyPr wrap="square">
            <a:spAutoFit/>
          </a:bodyPr>
          <a:lstStyle/>
          <a:p>
            <a:pPr algn="ctr">
              <a:spcBef>
                <a:spcPts val="0"/>
              </a:spcBef>
              <a:spcAft>
                <a:spcPts val="100"/>
              </a:spcAft>
            </a:pPr>
            <a:r>
              <a:rPr sz="800" b="1" i="0">
                <a:solidFill>
                  <a:srgbClr val="00C9FF"/>
                </a:solidFill>
              </a:rPr>
              <a:t>Machine Learning</a:t>
            </a:r>
          </a:p>
        </p:txBody>
      </p:sp>
      <p:sp>
        <p:nvSpPr>
          <p:cNvPr id="7" name="Rectangle 6"/>
          <p:cNvSpPr/>
          <p:nvPr/>
        </p:nvSpPr>
        <p:spPr>
          <a:xfrm>
            <a:off x="3374136" y="3566160"/>
            <a:ext cx="2393899" cy="292608"/>
          </a:xfrm>
          <a:prstGeom prst="rect">
            <a:avLst/>
          </a:prstGeom>
          <a:solidFill>
            <a:srgbClr val="00281E"/>
          </a:solidFill>
          <a:ln w="762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19856" y="3611879"/>
            <a:ext cx="2302459" cy="201168"/>
          </a:xfrm>
          <a:prstGeom prst="rect">
            <a:avLst/>
          </a:prstGeom>
          <a:noFill/>
        </p:spPr>
        <p:txBody>
          <a:bodyPr wrap="square">
            <a:spAutoFit/>
          </a:bodyPr>
          <a:lstStyle/>
          <a:p>
            <a:pPr algn="ctr">
              <a:spcBef>
                <a:spcPts val="0"/>
              </a:spcBef>
              <a:spcAft>
                <a:spcPts val="100"/>
              </a:spcAft>
            </a:pPr>
            <a:r>
              <a:rPr sz="800" b="1" i="0">
                <a:solidFill>
                  <a:srgbClr val="10B981"/>
                </a:solidFill>
              </a:rPr>
              <a:t>Retrieval-Augmented Generation</a:t>
            </a:r>
          </a:p>
        </p:txBody>
      </p:sp>
      <p:sp>
        <p:nvSpPr>
          <p:cNvPr id="9" name="Rectangle 8"/>
          <p:cNvSpPr/>
          <p:nvPr/>
        </p:nvSpPr>
        <p:spPr>
          <a:xfrm>
            <a:off x="5905195" y="3566160"/>
            <a:ext cx="1689811" cy="292608"/>
          </a:xfrm>
          <a:prstGeom prst="rect">
            <a:avLst/>
          </a:prstGeom>
          <a:solidFill>
            <a:srgbClr val="322800"/>
          </a:solidFill>
          <a:ln w="762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50915" y="3611879"/>
            <a:ext cx="1598371" cy="201168"/>
          </a:xfrm>
          <a:prstGeom prst="rect">
            <a:avLst/>
          </a:prstGeom>
          <a:noFill/>
        </p:spPr>
        <p:txBody>
          <a:bodyPr wrap="square">
            <a:spAutoFit/>
          </a:bodyPr>
          <a:lstStyle/>
          <a:p>
            <a:pPr algn="ctr">
              <a:spcBef>
                <a:spcPts val="0"/>
              </a:spcBef>
              <a:spcAft>
                <a:spcPts val="100"/>
              </a:spcAft>
            </a:pPr>
            <a:r>
              <a:rPr sz="800" b="1" i="0">
                <a:solidFill>
                  <a:srgbClr val="F59E0B"/>
                </a:solidFill>
              </a:rPr>
              <a:t>Safety-Validated LLM</a:t>
            </a:r>
          </a:p>
        </p:txBody>
      </p:sp>
      <p:sp>
        <p:nvSpPr>
          <p:cNvPr id="11" name="Rectangle 10"/>
          <p:cNvSpPr/>
          <p:nvPr/>
        </p:nvSpPr>
        <p:spPr>
          <a:xfrm>
            <a:off x="7732166" y="3566160"/>
            <a:ext cx="1196949" cy="292608"/>
          </a:xfrm>
          <a:prstGeom prst="rect">
            <a:avLst/>
          </a:prstGeom>
          <a:solidFill>
            <a:srgbClr val="281446"/>
          </a:solidFill>
          <a:ln w="762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7886" y="3611879"/>
            <a:ext cx="1105509" cy="201168"/>
          </a:xfrm>
          <a:prstGeom prst="rect">
            <a:avLst/>
          </a:prstGeom>
          <a:noFill/>
        </p:spPr>
        <p:txBody>
          <a:bodyPr wrap="square">
            <a:spAutoFit/>
          </a:bodyPr>
          <a:lstStyle/>
          <a:p>
            <a:pPr algn="ctr">
              <a:spcBef>
                <a:spcPts val="0"/>
              </a:spcBef>
              <a:spcAft>
                <a:spcPts val="100"/>
              </a:spcAft>
            </a:pPr>
            <a:r>
              <a:rPr sz="800" b="1" i="0">
                <a:solidFill>
                  <a:srgbClr val="A78BFA"/>
                </a:solidFill>
              </a:rPr>
              <a:t>KDIGO-Aligned</a:t>
            </a:r>
          </a:p>
        </p:txBody>
      </p:sp>
      <p:sp>
        <p:nvSpPr>
          <p:cNvPr id="13" name="Rectangle 12"/>
          <p:cNvSpPr/>
          <p:nvPr/>
        </p:nvSpPr>
        <p:spPr>
          <a:xfrm>
            <a:off x="1828800" y="3977639"/>
            <a:ext cx="853135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4114800"/>
            <a:ext cx="9445752" cy="320040"/>
          </a:xfrm>
          <a:prstGeom prst="rect">
            <a:avLst/>
          </a:prstGeom>
          <a:noFill/>
        </p:spPr>
        <p:txBody>
          <a:bodyPr wrap="square">
            <a:spAutoFit/>
          </a:bodyPr>
          <a:lstStyle/>
          <a:p>
            <a:pPr algn="ctr">
              <a:spcBef>
                <a:spcPts val="0"/>
              </a:spcBef>
              <a:spcAft>
                <a:spcPts val="100"/>
              </a:spcAft>
            </a:pPr>
            <a:r>
              <a:rPr sz="1100" b="1" i="0">
                <a:solidFill>
                  <a:srgbClr val="FFFFFF"/>
                </a:solidFill>
              </a:rPr>
              <a:t>Mohammad Walid Hasan</a:t>
            </a:r>
          </a:p>
        </p:txBody>
      </p:sp>
      <p:sp>
        <p:nvSpPr>
          <p:cNvPr id="15" name="TextBox 14"/>
          <p:cNvSpPr txBox="1"/>
          <p:nvPr/>
        </p:nvSpPr>
        <p:spPr>
          <a:xfrm>
            <a:off x="1371600" y="4425696"/>
            <a:ext cx="9445752" cy="274320"/>
          </a:xfrm>
          <a:prstGeom prst="rect">
            <a:avLst/>
          </a:prstGeom>
          <a:noFill/>
        </p:spPr>
        <p:txBody>
          <a:bodyPr wrap="square">
            <a:spAutoFit/>
          </a:bodyPr>
          <a:lstStyle/>
          <a:p>
            <a:pPr algn="ctr">
              <a:spcBef>
                <a:spcPts val="0"/>
              </a:spcBef>
              <a:spcAft>
                <a:spcPts val="100"/>
              </a:spcAft>
            </a:pPr>
            <a:r>
              <a:rPr sz="900" b="0" i="0">
                <a:solidFill>
                  <a:srgbClr val="8FABBE"/>
                </a:solidFill>
              </a:rPr>
              <a:t>Jahangirnagar University / IIT  ·  Research Project &amp; Viva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MOTIVATION</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The </a:t>
            </a:r>
            <a:r>
              <a:rPr sz="2600" b="1">
                <a:solidFill>
                  <a:srgbClr val="00C9FF"/>
                </a:solidFill>
              </a:rPr>
              <a:t>Problem</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Chronic Kidney Disease (CKD) is a silent, global epidemic</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81328"/>
            <a:ext cx="3108960" cy="148132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09344"/>
            <a:ext cx="2926079" cy="770290"/>
          </a:xfrm>
          <a:prstGeom prst="rect">
            <a:avLst/>
          </a:prstGeom>
          <a:noFill/>
        </p:spPr>
        <p:txBody>
          <a:bodyPr wrap="square">
            <a:spAutoFit/>
          </a:bodyPr>
          <a:lstStyle/>
          <a:p>
            <a:pPr algn="ctr">
              <a:spcBef>
                <a:spcPts val="0"/>
              </a:spcBef>
              <a:spcAft>
                <a:spcPts val="100"/>
              </a:spcAft>
            </a:pPr>
            <a:r>
              <a:rPr sz="2200" b="1" i="0">
                <a:solidFill>
                  <a:srgbClr val="00C9FF"/>
                </a:solidFill>
              </a:rPr>
              <a:t>800M</a:t>
            </a:r>
          </a:p>
        </p:txBody>
      </p:sp>
      <p:sp>
        <p:nvSpPr>
          <p:cNvPr id="8" name="TextBox 7"/>
          <p:cNvSpPr txBox="1"/>
          <p:nvPr/>
        </p:nvSpPr>
        <p:spPr>
          <a:xfrm>
            <a:off x="457200" y="2414564"/>
            <a:ext cx="2926079" cy="488838"/>
          </a:xfrm>
          <a:prstGeom prst="rect">
            <a:avLst/>
          </a:prstGeom>
          <a:noFill/>
        </p:spPr>
        <p:txBody>
          <a:bodyPr wrap="square">
            <a:spAutoFit/>
          </a:bodyPr>
          <a:lstStyle/>
          <a:p>
            <a:pPr algn="ctr">
              <a:spcBef>
                <a:spcPts val="0"/>
              </a:spcBef>
              <a:spcAft>
                <a:spcPts val="100"/>
              </a:spcAft>
            </a:pPr>
            <a:r>
              <a:rPr sz="650" b="0" i="0">
                <a:solidFill>
                  <a:srgbClr val="8FABBE"/>
                </a:solidFill>
              </a:rPr>
              <a:t>PEOPLE WORLDWIDE HAVE CKD</a:t>
            </a:r>
          </a:p>
        </p:txBody>
      </p:sp>
      <p:sp>
        <p:nvSpPr>
          <p:cNvPr id="9" name="Rectangle 8"/>
          <p:cNvSpPr/>
          <p:nvPr/>
        </p:nvSpPr>
        <p:spPr>
          <a:xfrm>
            <a:off x="365760" y="3035808"/>
            <a:ext cx="3108960" cy="1115568"/>
          </a:xfrm>
          <a:prstGeom prst="rect">
            <a:avLst/>
          </a:prstGeom>
          <a:solidFill>
            <a:srgbClr val="1E080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163824"/>
            <a:ext cx="2926079" cy="580095"/>
          </a:xfrm>
          <a:prstGeom prst="rect">
            <a:avLst/>
          </a:prstGeom>
          <a:noFill/>
        </p:spPr>
        <p:txBody>
          <a:bodyPr wrap="square">
            <a:spAutoFit/>
          </a:bodyPr>
          <a:lstStyle/>
          <a:p>
            <a:pPr algn="ctr">
              <a:spcBef>
                <a:spcPts val="0"/>
              </a:spcBef>
              <a:spcAft>
                <a:spcPts val="100"/>
              </a:spcAft>
            </a:pPr>
            <a:r>
              <a:rPr sz="2200" b="1" i="0">
                <a:solidFill>
                  <a:srgbClr val="EF4444"/>
                </a:solidFill>
              </a:rPr>
              <a:t>~90%</a:t>
            </a:r>
          </a:p>
        </p:txBody>
      </p:sp>
      <p:sp>
        <p:nvSpPr>
          <p:cNvPr id="11" name="TextBox 10"/>
          <p:cNvSpPr txBox="1"/>
          <p:nvPr/>
        </p:nvSpPr>
        <p:spPr>
          <a:xfrm>
            <a:off x="457200" y="3738615"/>
            <a:ext cx="2926079" cy="368137"/>
          </a:xfrm>
          <a:prstGeom prst="rect">
            <a:avLst/>
          </a:prstGeom>
          <a:noFill/>
        </p:spPr>
        <p:txBody>
          <a:bodyPr wrap="square">
            <a:spAutoFit/>
          </a:bodyPr>
          <a:lstStyle/>
          <a:p>
            <a:pPr algn="ctr">
              <a:spcBef>
                <a:spcPts val="0"/>
              </a:spcBef>
              <a:spcAft>
                <a:spcPts val="100"/>
              </a:spcAft>
            </a:pPr>
            <a:r>
              <a:rPr sz="650" b="0" i="0">
                <a:solidFill>
                  <a:srgbClr val="8FABBE"/>
                </a:solidFill>
              </a:rPr>
              <a:t>ARE UNAWARE THEY HAVE IT</a:t>
            </a:r>
          </a:p>
        </p:txBody>
      </p:sp>
      <p:sp>
        <p:nvSpPr>
          <p:cNvPr id="12" name="Rectangle 11"/>
          <p:cNvSpPr/>
          <p:nvPr/>
        </p:nvSpPr>
        <p:spPr>
          <a:xfrm>
            <a:off x="365760" y="4224528"/>
            <a:ext cx="3108960" cy="1115568"/>
          </a:xfrm>
          <a:prstGeom prst="rect">
            <a:avLst/>
          </a:prstGeom>
          <a:solidFill>
            <a:srgbClr val="231905"/>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352544"/>
            <a:ext cx="2926079" cy="580095"/>
          </a:xfrm>
          <a:prstGeom prst="rect">
            <a:avLst/>
          </a:prstGeom>
          <a:noFill/>
        </p:spPr>
        <p:txBody>
          <a:bodyPr wrap="square">
            <a:spAutoFit/>
          </a:bodyPr>
          <a:lstStyle/>
          <a:p>
            <a:pPr algn="ctr">
              <a:spcBef>
                <a:spcPts val="0"/>
              </a:spcBef>
              <a:spcAft>
                <a:spcPts val="100"/>
              </a:spcAft>
            </a:pPr>
            <a:r>
              <a:rPr sz="2200" b="1" i="0">
                <a:solidFill>
                  <a:srgbClr val="F59E0B"/>
                </a:solidFill>
              </a:rPr>
              <a:t>Stage 3+</a:t>
            </a:r>
          </a:p>
        </p:txBody>
      </p:sp>
      <p:sp>
        <p:nvSpPr>
          <p:cNvPr id="14" name="TextBox 13"/>
          <p:cNvSpPr txBox="1"/>
          <p:nvPr/>
        </p:nvSpPr>
        <p:spPr>
          <a:xfrm>
            <a:off x="457200" y="4927335"/>
            <a:ext cx="2926079" cy="368137"/>
          </a:xfrm>
          <a:prstGeom prst="rect">
            <a:avLst/>
          </a:prstGeom>
          <a:noFill/>
        </p:spPr>
        <p:txBody>
          <a:bodyPr wrap="square">
            <a:spAutoFit/>
          </a:bodyPr>
          <a:lstStyle/>
          <a:p>
            <a:pPr algn="ctr">
              <a:spcBef>
                <a:spcPts val="0"/>
              </a:spcBef>
              <a:spcAft>
                <a:spcPts val="100"/>
              </a:spcAft>
            </a:pPr>
            <a:r>
              <a:rPr sz="650" b="0" i="0">
                <a:solidFill>
                  <a:srgbClr val="8FABBE"/>
                </a:solidFill>
              </a:rPr>
              <a:t>WHEN MOST ARE FINALLY DIAGNOSED</a:t>
            </a:r>
          </a:p>
        </p:txBody>
      </p:sp>
      <p:sp>
        <p:nvSpPr>
          <p:cNvPr id="15" name="Rectangle 14"/>
          <p:cNvSpPr/>
          <p:nvPr/>
        </p:nvSpPr>
        <p:spPr>
          <a:xfrm>
            <a:off x="3657600" y="1481328"/>
            <a:ext cx="8348472" cy="1463040"/>
          </a:xfrm>
          <a:prstGeom prst="rect">
            <a:avLst/>
          </a:prstGeom>
          <a:solidFill>
            <a:srgbClr val="19080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0" y="1481328"/>
            <a:ext cx="50292" cy="14630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67912" y="1600200"/>
            <a:ext cx="8092440" cy="219456"/>
          </a:xfrm>
          <a:prstGeom prst="rect">
            <a:avLst/>
          </a:prstGeom>
          <a:noFill/>
        </p:spPr>
        <p:txBody>
          <a:bodyPr wrap="square">
            <a:spAutoFit/>
          </a:bodyPr>
          <a:lstStyle/>
          <a:p>
            <a:pPr algn="l">
              <a:spcBef>
                <a:spcPts val="0"/>
              </a:spcBef>
              <a:spcAft>
                <a:spcPts val="100"/>
              </a:spcAft>
            </a:pPr>
            <a:r>
              <a:rPr sz="700" b="1" i="0">
                <a:solidFill>
                  <a:srgbClr val="00C9FF"/>
                </a:solidFill>
              </a:rPr>
              <a:t>GAP 1 — DETECTION</a:t>
            </a:r>
          </a:p>
        </p:txBody>
      </p:sp>
      <p:sp>
        <p:nvSpPr>
          <p:cNvPr id="18" name="TextBox 17"/>
          <p:cNvSpPr txBox="1"/>
          <p:nvPr/>
        </p:nvSpPr>
        <p:spPr>
          <a:xfrm>
            <a:off x="3867912" y="1828800"/>
            <a:ext cx="8074152" cy="1024128"/>
          </a:xfrm>
          <a:prstGeom prst="rect">
            <a:avLst/>
          </a:prstGeom>
          <a:noFill/>
        </p:spPr>
        <p:txBody>
          <a:bodyPr wrap="square">
            <a:spAutoFit/>
          </a:bodyPr>
          <a:lstStyle/>
          <a:p>
            <a:pPr algn="l">
              <a:spcBef>
                <a:spcPts val="0"/>
              </a:spcBef>
              <a:spcAft>
                <a:spcPts val="100"/>
              </a:spcAft>
            </a:pPr>
            <a:r>
              <a:rPr sz="850" b="0" i="0">
                <a:solidFill>
                  <a:srgbClr val="8FABBE"/>
                </a:solidFill>
              </a:rPr>
              <a:t>Standard confirmatory tests — eGFR, serum creatinine, UACR — require dedicated laboratory access and phlebotomy. This creates a barrier in community, primary-care, and low-resource settings where early screening is most needed.</a:t>
            </a:r>
          </a:p>
        </p:txBody>
      </p:sp>
      <p:sp>
        <p:nvSpPr>
          <p:cNvPr id="19" name="Rectangle 18"/>
          <p:cNvSpPr/>
          <p:nvPr/>
        </p:nvSpPr>
        <p:spPr>
          <a:xfrm>
            <a:off x="3657600" y="3017520"/>
            <a:ext cx="8348472" cy="1389888"/>
          </a:xfrm>
          <a:prstGeom prst="rect">
            <a:avLst/>
          </a:prstGeom>
          <a:solidFill>
            <a:srgbClr val="201605"/>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0" y="3017520"/>
            <a:ext cx="50292" cy="13898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67912" y="3136391"/>
            <a:ext cx="8092440" cy="219456"/>
          </a:xfrm>
          <a:prstGeom prst="rect">
            <a:avLst/>
          </a:prstGeom>
          <a:noFill/>
        </p:spPr>
        <p:txBody>
          <a:bodyPr wrap="square">
            <a:spAutoFit/>
          </a:bodyPr>
          <a:lstStyle/>
          <a:p>
            <a:pPr algn="l">
              <a:spcBef>
                <a:spcPts val="0"/>
              </a:spcBef>
              <a:spcAft>
                <a:spcPts val="100"/>
              </a:spcAft>
            </a:pPr>
            <a:r>
              <a:rPr sz="700" b="1" i="0">
                <a:solidFill>
                  <a:srgbClr val="00C9FF"/>
                </a:solidFill>
              </a:rPr>
              <a:t>GAP 2 — PATIENT EDUCATION</a:t>
            </a:r>
          </a:p>
        </p:txBody>
      </p:sp>
      <p:sp>
        <p:nvSpPr>
          <p:cNvPr id="22" name="TextBox 21"/>
          <p:cNvSpPr txBox="1"/>
          <p:nvPr/>
        </p:nvSpPr>
        <p:spPr>
          <a:xfrm>
            <a:off x="3867912" y="3364991"/>
            <a:ext cx="8074152" cy="950976"/>
          </a:xfrm>
          <a:prstGeom prst="rect">
            <a:avLst/>
          </a:prstGeom>
          <a:noFill/>
        </p:spPr>
        <p:txBody>
          <a:bodyPr wrap="square">
            <a:spAutoFit/>
          </a:bodyPr>
          <a:lstStyle/>
          <a:p>
            <a:pPr algn="l">
              <a:spcBef>
                <a:spcPts val="0"/>
              </a:spcBef>
              <a:spcAft>
                <a:spcPts val="100"/>
              </a:spcAft>
            </a:pPr>
            <a:r>
              <a:rPr sz="850" b="0" i="0">
                <a:solidFill>
                  <a:srgbClr val="8FABBE"/>
                </a:solidFill>
              </a:rPr>
              <a:t>Even when a risk score is generated, patients receive no personalised guidance — no explanation of what their specific risk factors mean, what lifestyle changes to make, or when to seek follow-up.</a:t>
            </a:r>
          </a:p>
        </p:txBody>
      </p:sp>
      <p:sp>
        <p:nvSpPr>
          <p:cNvPr id="23" name="Rectangle 22"/>
          <p:cNvSpPr/>
          <p:nvPr/>
        </p:nvSpPr>
        <p:spPr>
          <a:xfrm>
            <a:off x="3657600" y="4480560"/>
            <a:ext cx="8348472" cy="914400"/>
          </a:xfrm>
          <a:prstGeom prst="rect">
            <a:avLst/>
          </a:prstGeom>
          <a:solidFill>
            <a:srgbClr val="1E080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03904" y="4599432"/>
            <a:ext cx="8092440" cy="219456"/>
          </a:xfrm>
          <a:prstGeom prst="rect">
            <a:avLst/>
          </a:prstGeom>
          <a:noFill/>
        </p:spPr>
        <p:txBody>
          <a:bodyPr wrap="square">
            <a:spAutoFit/>
          </a:bodyPr>
          <a:lstStyle/>
          <a:p>
            <a:pPr algn="l">
              <a:spcBef>
                <a:spcPts val="0"/>
              </a:spcBef>
              <a:spcAft>
                <a:spcPts val="100"/>
              </a:spcAft>
            </a:pPr>
            <a:r>
              <a:rPr sz="700" b="1" i="0">
                <a:solidFill>
                  <a:srgbClr val="EF4444"/>
                </a:solidFill>
              </a:rPr>
              <a:t>EXISTING ML MODELS FALL SHORT</a:t>
            </a:r>
          </a:p>
        </p:txBody>
      </p:sp>
      <p:sp>
        <p:nvSpPr>
          <p:cNvPr id="25" name="TextBox 24"/>
          <p:cNvSpPr txBox="1"/>
          <p:nvPr/>
        </p:nvSpPr>
        <p:spPr>
          <a:xfrm>
            <a:off x="3803904" y="4828032"/>
            <a:ext cx="8092440" cy="475488"/>
          </a:xfrm>
          <a:prstGeom prst="rect">
            <a:avLst/>
          </a:prstGeom>
          <a:noFill/>
        </p:spPr>
        <p:txBody>
          <a:bodyPr wrap="square">
            <a:spAutoFit/>
          </a:bodyPr>
          <a:lstStyle/>
          <a:p>
            <a:pPr algn="l">
              <a:spcBef>
                <a:spcPts val="0"/>
              </a:spcBef>
              <a:spcAft>
                <a:spcPts val="100"/>
              </a:spcAft>
            </a:pPr>
            <a:r>
              <a:rPr sz="850" b="0" i="0">
                <a:solidFill>
                  <a:srgbClr val="8FABBE"/>
                </a:solidFill>
              </a:rPr>
              <a:t>✕  Almost all use eGFR or creatinine as inputs — not usable for community screening</a:t>
            </a:r>
          </a:p>
          <a:p>
            <a:pPr algn="l">
              <a:spcBef>
                <a:spcPts val="0"/>
              </a:spcBef>
              <a:spcAft>
                <a:spcPts val="100"/>
              </a:spcAft>
            </a:pPr>
            <a:r>
              <a:rPr sz="850" b="0" i="0">
                <a:solidFill>
                  <a:srgbClr val="8FABBE"/>
                </a:solidFill>
              </a:rPr>
              <a:t>✕  Binary output only — no KDIGO-aligned risk stratification</a:t>
            </a:r>
          </a:p>
          <a:p>
            <a:pPr algn="l">
              <a:spcBef>
                <a:spcPts val="0"/>
              </a:spcBef>
              <a:spcAft>
                <a:spcPts val="100"/>
              </a:spcAft>
            </a:pPr>
            <a:r>
              <a:rPr sz="850" b="0" i="0">
                <a:solidFill>
                  <a:srgbClr val="8FABBE"/>
                </a:solidFill>
              </a:rPr>
              <a:t>✕  No patient-facing education layer built 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OVERVIEW</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What is </a:t>
            </a:r>
            <a:r>
              <a:rPr sz="2600" b="1">
                <a:solidFill>
                  <a:srgbClr val="00C9FF"/>
                </a:solidFill>
              </a:rPr>
              <a:t>Nephro-AI</a:t>
            </a:r>
            <a:r>
              <a:rPr sz="2600" b="1">
                <a:solidFill>
                  <a:srgbClr val="FFFFFF"/>
                </a:solidFill>
              </a:rPr>
              <a:t>?</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A connected two-stage system that solves both gaps end-to-end</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81328"/>
            <a:ext cx="5394960" cy="384048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5138928" cy="219456"/>
          </a:xfrm>
          <a:prstGeom prst="rect">
            <a:avLst/>
          </a:prstGeom>
          <a:noFill/>
        </p:spPr>
        <p:txBody>
          <a:bodyPr wrap="square">
            <a:spAutoFit/>
          </a:bodyPr>
          <a:lstStyle/>
          <a:p>
            <a:pPr algn="l">
              <a:spcBef>
                <a:spcPts val="0"/>
              </a:spcBef>
              <a:spcAft>
                <a:spcPts val="100"/>
              </a:spcAft>
            </a:pPr>
            <a:r>
              <a:rPr sz="700" b="1" i="0">
                <a:solidFill>
                  <a:srgbClr val="00C9FF"/>
                </a:solidFill>
              </a:rPr>
              <a:t>STAGE 1 — ML SCREENING</a:t>
            </a:r>
          </a:p>
        </p:txBody>
      </p:sp>
      <p:sp>
        <p:nvSpPr>
          <p:cNvPr id="8" name="TextBox 7"/>
          <p:cNvSpPr txBox="1"/>
          <p:nvPr/>
        </p:nvSpPr>
        <p:spPr>
          <a:xfrm>
            <a:off x="512064" y="1828800"/>
            <a:ext cx="5138928" cy="3401568"/>
          </a:xfrm>
          <a:prstGeom prst="rect">
            <a:avLst/>
          </a:prstGeom>
          <a:noFill/>
        </p:spPr>
        <p:txBody>
          <a:bodyPr wrap="square">
            <a:spAutoFit/>
          </a:bodyPr>
          <a:lstStyle/>
          <a:p>
            <a:pPr algn="l">
              <a:spcBef>
                <a:spcPts val="0"/>
              </a:spcBef>
              <a:spcAft>
                <a:spcPts val="100"/>
              </a:spcAft>
            </a:pPr>
            <a:r>
              <a:rPr sz="850" b="0" i="0">
                <a:solidFill>
                  <a:srgbClr val="8FABBE"/>
                </a:solidFill>
              </a:rPr>
              <a:t>✓  22 routine health inputs → Low / Moderate / High risk</a:t>
            </a:r>
          </a:p>
          <a:p>
            <a:pPr algn="l">
              <a:spcBef>
                <a:spcPts val="0"/>
              </a:spcBef>
              <a:spcAft>
                <a:spcPts val="100"/>
              </a:spcAft>
            </a:pPr>
            <a:r>
              <a:rPr sz="850" b="0" i="0">
                <a:solidFill>
                  <a:srgbClr val="8FABBE"/>
                </a:solidFill>
              </a:rPr>
              <a:t>✓  No creatinine, No eGFR, No UACR — routine vitals and labs only</a:t>
            </a:r>
          </a:p>
          <a:p>
            <a:pPr algn="l">
              <a:spcBef>
                <a:spcPts val="0"/>
              </a:spcBef>
              <a:spcAft>
                <a:spcPts val="100"/>
              </a:spcAft>
            </a:pPr>
            <a:r>
              <a:rPr sz="850" b="0" i="0">
                <a:solidFill>
                  <a:srgbClr val="8FABBE"/>
                </a:solidFill>
              </a:rPr>
              <a:t>✓  Two-stage cascade: RF gate + GradientBoosting discriminator</a:t>
            </a:r>
          </a:p>
          <a:p>
            <a:pPr algn="l">
              <a:spcBef>
                <a:spcPts val="0"/>
              </a:spcBef>
              <a:spcAft>
                <a:spcPts val="100"/>
              </a:spcAft>
            </a:pPr>
            <a:r>
              <a:rPr sz="850" b="0" i="0">
                <a:solidFill>
                  <a:srgbClr val="8FABBE"/>
                </a:solidFill>
              </a:rPr>
              <a:t>✓  KDIGO risk grid aligned classification</a:t>
            </a:r>
          </a:p>
          <a:p>
            <a:pPr algn="l">
              <a:spcBef>
                <a:spcPts val="0"/>
              </a:spcBef>
              <a:spcAft>
                <a:spcPts val="100"/>
              </a:spcAft>
            </a:pPr>
            <a:r>
              <a:rPr sz="850" b="0" i="0">
                <a:solidFill>
                  <a:srgbClr val="8FABBE"/>
                </a:solidFill>
              </a:rPr>
              <a:t>✓  Model-agnostic local explanation (top 6 factors)</a:t>
            </a:r>
          </a:p>
          <a:p>
            <a:pPr algn="l">
              <a:spcBef>
                <a:spcPts val="0"/>
              </a:spcBef>
              <a:spcAft>
                <a:spcPts val="100"/>
              </a:spcAft>
            </a:pPr>
            <a:r>
              <a:rPr sz="850" b="0" i="0">
                <a:solidFill>
                  <a:srgbClr val="8FABBE"/>
                </a:solidFill>
              </a:rPr>
              <a:t>✓  Reliability score per prediction</a:t>
            </a:r>
          </a:p>
        </p:txBody>
      </p:sp>
      <p:sp>
        <p:nvSpPr>
          <p:cNvPr id="9" name="TextBox 8"/>
          <p:cNvSpPr txBox="1"/>
          <p:nvPr/>
        </p:nvSpPr>
        <p:spPr>
          <a:xfrm>
            <a:off x="5833872" y="3108960"/>
            <a:ext cx="502920" cy="640080"/>
          </a:xfrm>
          <a:prstGeom prst="rect">
            <a:avLst/>
          </a:prstGeom>
          <a:noFill/>
        </p:spPr>
        <p:txBody>
          <a:bodyPr wrap="square">
            <a:spAutoFit/>
          </a:bodyPr>
          <a:lstStyle/>
          <a:p>
            <a:pPr algn="ctr">
              <a:spcBef>
                <a:spcPts val="0"/>
              </a:spcBef>
              <a:spcAft>
                <a:spcPts val="100"/>
              </a:spcAft>
            </a:pPr>
            <a:r>
              <a:rPr sz="2800" b="1" i="0">
                <a:solidFill>
                  <a:srgbClr val="00C9FF"/>
                </a:solidFill>
              </a:rPr>
              <a:t>→</a:t>
            </a:r>
          </a:p>
        </p:txBody>
      </p:sp>
      <p:sp>
        <p:nvSpPr>
          <p:cNvPr id="10" name="Rectangle 9"/>
          <p:cNvSpPr/>
          <p:nvPr/>
        </p:nvSpPr>
        <p:spPr>
          <a:xfrm>
            <a:off x="6428232" y="1481328"/>
            <a:ext cx="5394960" cy="384048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74536" y="1600200"/>
            <a:ext cx="5138928" cy="219456"/>
          </a:xfrm>
          <a:prstGeom prst="rect">
            <a:avLst/>
          </a:prstGeom>
          <a:noFill/>
        </p:spPr>
        <p:txBody>
          <a:bodyPr wrap="square">
            <a:spAutoFit/>
          </a:bodyPr>
          <a:lstStyle/>
          <a:p>
            <a:pPr algn="l">
              <a:spcBef>
                <a:spcPts val="0"/>
              </a:spcBef>
              <a:spcAft>
                <a:spcPts val="100"/>
              </a:spcAft>
            </a:pPr>
            <a:r>
              <a:rPr sz="700" b="1" i="0">
                <a:solidFill>
                  <a:srgbClr val="A78BFA"/>
                </a:solidFill>
              </a:rPr>
              <a:t>STAGE 2 — LLM EDUCATION</a:t>
            </a:r>
          </a:p>
        </p:txBody>
      </p:sp>
      <p:sp>
        <p:nvSpPr>
          <p:cNvPr id="12" name="TextBox 11"/>
          <p:cNvSpPr txBox="1"/>
          <p:nvPr/>
        </p:nvSpPr>
        <p:spPr>
          <a:xfrm>
            <a:off x="6574536" y="1828800"/>
            <a:ext cx="5138928" cy="3401568"/>
          </a:xfrm>
          <a:prstGeom prst="rect">
            <a:avLst/>
          </a:prstGeom>
          <a:noFill/>
        </p:spPr>
        <p:txBody>
          <a:bodyPr wrap="square">
            <a:spAutoFit/>
          </a:bodyPr>
          <a:lstStyle/>
          <a:p>
            <a:pPr algn="l">
              <a:spcBef>
                <a:spcPts val="0"/>
              </a:spcBef>
              <a:spcAft>
                <a:spcPts val="100"/>
              </a:spcAft>
            </a:pPr>
            <a:r>
              <a:rPr sz="850" b="0" i="0">
                <a:solidFill>
                  <a:srgbClr val="8FABBE"/>
                </a:solidFill>
              </a:rPr>
              <a:t>✓  ML result + patient profile fed to Qwen3-4B via Ollama</a:t>
            </a:r>
          </a:p>
          <a:p>
            <a:pPr algn="l">
              <a:spcBef>
                <a:spcPts val="0"/>
              </a:spcBef>
              <a:spcAft>
                <a:spcPts val="100"/>
              </a:spcAft>
            </a:pPr>
            <a:r>
              <a:rPr sz="850" b="0" i="0">
                <a:solidFill>
                  <a:srgbClr val="8FABBE"/>
                </a:solidFill>
              </a:rPr>
              <a:t>✓  Factor-aware RAG pulls relevant clinical guideline chunks</a:t>
            </a:r>
          </a:p>
          <a:p>
            <a:pPr algn="l">
              <a:spcBef>
                <a:spcPts val="0"/>
              </a:spcBef>
              <a:spcAft>
                <a:spcPts val="100"/>
              </a:spcAft>
            </a:pPr>
            <a:r>
              <a:rPr sz="850" b="0" i="0">
                <a:solidFill>
                  <a:srgbClr val="8FABBE"/>
                </a:solidFill>
              </a:rPr>
              <a:t>✓  Patient Profile block + per-section personalisation cues</a:t>
            </a:r>
          </a:p>
          <a:p>
            <a:pPr algn="l">
              <a:spcBef>
                <a:spcPts val="0"/>
              </a:spcBef>
              <a:spcAft>
                <a:spcPts val="100"/>
              </a:spcAft>
            </a:pPr>
            <a:r>
              <a:rPr sz="850" b="0" i="0">
                <a:solidFill>
                  <a:srgbClr val="8FABBE"/>
                </a:solidFill>
              </a:rPr>
              <a:t>✓  Grounded in KDIGO 2024, ADA 2026, NKF KDOQI, CDC</a:t>
            </a:r>
          </a:p>
          <a:p>
            <a:pPr algn="l">
              <a:spcBef>
                <a:spcPts val="0"/>
              </a:spcBef>
              <a:spcAft>
                <a:spcPts val="100"/>
              </a:spcAft>
            </a:pPr>
            <a:r>
              <a:rPr sz="850" b="0" i="0">
                <a:solidFill>
                  <a:srgbClr val="8FABBE"/>
                </a:solidFill>
              </a:rPr>
              <a:t>✓  7-layer safety validator runs post-generation</a:t>
            </a:r>
          </a:p>
          <a:p>
            <a:pPr algn="l">
              <a:spcBef>
                <a:spcPts val="0"/>
              </a:spcBef>
              <a:spcAft>
                <a:spcPts val="100"/>
              </a:spcAft>
            </a:pPr>
            <a:r>
              <a:rPr sz="850" b="0" i="0">
                <a:solidFill>
                  <a:srgbClr val="8FABBE"/>
                </a:solidFill>
              </a:rPr>
              <a:t>✓  Plain language output — Flesch-Kincaid Grade ≤ 8</a:t>
            </a:r>
          </a:p>
        </p:txBody>
      </p:sp>
      <p:sp>
        <p:nvSpPr>
          <p:cNvPr id="13" name="Rectangle 12"/>
          <p:cNvSpPr/>
          <p:nvPr/>
        </p:nvSpPr>
        <p:spPr>
          <a:xfrm>
            <a:off x="365760" y="5413248"/>
            <a:ext cx="11457432" cy="621792"/>
          </a:xfrm>
          <a:prstGeom prst="rect">
            <a:avLst/>
          </a:prstGeom>
          <a:solidFill>
            <a:srgbClr val="00192D"/>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 y="5532120"/>
            <a:ext cx="11183111" cy="411480"/>
          </a:xfrm>
          <a:prstGeom prst="rect">
            <a:avLst/>
          </a:prstGeom>
          <a:noFill/>
        </p:spPr>
        <p:txBody>
          <a:bodyPr wrap="square">
            <a:spAutoFit/>
          </a:bodyPr>
          <a:lstStyle/>
          <a:p>
            <a:pPr algn="l">
              <a:spcBef>
                <a:spcPts val="0"/>
              </a:spcBef>
              <a:spcAft>
                <a:spcPts val="100"/>
              </a:spcAft>
            </a:pPr>
            <a:r>
              <a:rPr sz="850" b="0" i="0">
                <a:solidFill>
                  <a:srgbClr val="8FABBE"/>
                </a:solidFill>
              </a:rPr>
              <a:t>Delivered as a full-stack web app:  Patient View (calming education UI)  +  Admin / Research View (probabilities, retrieved chunks, validator audit trail, frozen evaluation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DATA</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Dataset &amp; </a:t>
            </a:r>
            <a:r>
              <a:rPr sz="2600" b="1">
                <a:solidFill>
                  <a:srgbClr val="00C9FF"/>
                </a:solidFill>
              </a:rPr>
              <a:t>Risk Target</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NHANES 2021–23 with KDIGO-aligned risk stratification</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81328"/>
            <a:ext cx="5577840" cy="237744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5321807" cy="219456"/>
          </a:xfrm>
          <a:prstGeom prst="rect">
            <a:avLst/>
          </a:prstGeom>
          <a:noFill/>
        </p:spPr>
        <p:txBody>
          <a:bodyPr wrap="square">
            <a:spAutoFit/>
          </a:bodyPr>
          <a:lstStyle/>
          <a:p>
            <a:pPr algn="l">
              <a:spcBef>
                <a:spcPts val="0"/>
              </a:spcBef>
              <a:spcAft>
                <a:spcPts val="100"/>
              </a:spcAft>
            </a:pPr>
            <a:r>
              <a:rPr sz="700" b="1" i="0">
                <a:solidFill>
                  <a:srgbClr val="00C9FF"/>
                </a:solidFill>
              </a:rPr>
              <a:t>NHANES 2021–23</a:t>
            </a:r>
          </a:p>
        </p:txBody>
      </p:sp>
      <p:sp>
        <p:nvSpPr>
          <p:cNvPr id="8" name="TextBox 7"/>
          <p:cNvSpPr txBox="1"/>
          <p:nvPr/>
        </p:nvSpPr>
        <p:spPr>
          <a:xfrm>
            <a:off x="512064" y="1828800"/>
            <a:ext cx="5303520" cy="1938528"/>
          </a:xfrm>
          <a:prstGeom prst="rect">
            <a:avLst/>
          </a:prstGeom>
          <a:noFill/>
        </p:spPr>
        <p:txBody>
          <a:bodyPr wrap="square">
            <a:spAutoFit/>
          </a:bodyPr>
          <a:lstStyle/>
          <a:p>
            <a:pPr algn="l">
              <a:spcBef>
                <a:spcPts val="0"/>
              </a:spcBef>
              <a:spcAft>
                <a:spcPts val="100"/>
              </a:spcAft>
            </a:pPr>
            <a:r>
              <a:rPr sz="850" b="0" i="0">
                <a:solidFill>
                  <a:srgbClr val="8FABBE"/>
                </a:solidFill>
              </a:rPr>
              <a:t>National Health and Nutrition Examination Survey (CDC/NCHS) — nationally representative survey of the US adult population combining interview, physical examination, and laboratory data. Most recent completed cycle (post-COVID, 2021–2023). Publicly available for reproducible research.</a:t>
            </a:r>
          </a:p>
        </p:txBody>
      </p:sp>
      <p:sp>
        <p:nvSpPr>
          <p:cNvPr id="9" name="Rectangle 8"/>
          <p:cNvSpPr/>
          <p:nvPr/>
        </p:nvSpPr>
        <p:spPr>
          <a:xfrm>
            <a:off x="6062472" y="1481328"/>
            <a:ext cx="5577840" cy="237744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08776" y="1600200"/>
            <a:ext cx="5321807" cy="219456"/>
          </a:xfrm>
          <a:prstGeom prst="rect">
            <a:avLst/>
          </a:prstGeom>
          <a:noFill/>
        </p:spPr>
        <p:txBody>
          <a:bodyPr wrap="square">
            <a:spAutoFit/>
          </a:bodyPr>
          <a:lstStyle/>
          <a:p>
            <a:pPr algn="l">
              <a:spcBef>
                <a:spcPts val="0"/>
              </a:spcBef>
              <a:spcAft>
                <a:spcPts val="100"/>
              </a:spcAft>
            </a:pPr>
            <a:r>
              <a:rPr sz="700" b="1" i="0">
                <a:solidFill>
                  <a:srgbClr val="00C9FF"/>
                </a:solidFill>
              </a:rPr>
              <a:t>KDIGO RISK TARGET</a:t>
            </a:r>
          </a:p>
        </p:txBody>
      </p:sp>
      <p:sp>
        <p:nvSpPr>
          <p:cNvPr id="11" name="TextBox 10"/>
          <p:cNvSpPr txBox="1"/>
          <p:nvPr/>
        </p:nvSpPr>
        <p:spPr>
          <a:xfrm>
            <a:off x="6208776" y="1828800"/>
            <a:ext cx="5303520" cy="1938528"/>
          </a:xfrm>
          <a:prstGeom prst="rect">
            <a:avLst/>
          </a:prstGeom>
          <a:noFill/>
        </p:spPr>
        <p:txBody>
          <a:bodyPr wrap="square">
            <a:spAutoFit/>
          </a:bodyPr>
          <a:lstStyle/>
          <a:p>
            <a:pPr algn="l">
              <a:spcBef>
                <a:spcPts val="0"/>
              </a:spcBef>
              <a:spcAft>
                <a:spcPts val="100"/>
              </a:spcAft>
            </a:pPr>
            <a:r>
              <a:rPr sz="850" b="0" i="0">
                <a:solidFill>
                  <a:srgbClr val="8FABBE"/>
                </a:solidFill>
              </a:rPr>
              <a:t>Low  —  No / minimal risk indicators (eGFR ≥60, albuminuria A1)</a:t>
            </a:r>
          </a:p>
          <a:p>
            <a:pPr algn="l">
              <a:spcBef>
                <a:spcPts val="0"/>
              </a:spcBef>
              <a:spcAft>
                <a:spcPts val="100"/>
              </a:spcAft>
            </a:pPr>
            <a:r>
              <a:rPr sz="850" b="0" i="0">
                <a:solidFill>
                  <a:srgbClr val="8FABBE"/>
                </a:solidFill>
              </a:rPr>
              <a:t>Moderate  —  Moderately elevated risk</a:t>
            </a:r>
          </a:p>
          <a:p>
            <a:pPr algn="l">
              <a:spcBef>
                <a:spcPts val="0"/>
              </a:spcBef>
              <a:spcAft>
                <a:spcPts val="100"/>
              </a:spcAft>
            </a:pPr>
            <a:r>
              <a:rPr sz="850" b="0" i="0">
                <a:solidFill>
                  <a:srgbClr val="8FABBE"/>
                </a:solidFill>
              </a:rPr>
              <a:t>High  —  High / very-high risk (eGFR &lt;60 or albuminuria A2/A3)</a:t>
            </a:r>
          </a:p>
          <a:p>
            <a:pPr algn="l">
              <a:spcBef>
                <a:spcPts val="0"/>
              </a:spcBef>
              <a:spcAft>
                <a:spcPts val="100"/>
              </a:spcAft>
            </a:pPr>
            <a:r>
              <a:rPr sz="850" b="0" i="0">
                <a:solidFill>
                  <a:srgbClr val="8FABBE"/>
                </a:solidFill>
              </a:rPr>
              <a:t/>
            </a:r>
          </a:p>
          <a:p>
            <a:pPr algn="l">
              <a:spcBef>
                <a:spcPts val="0"/>
              </a:spcBef>
              <a:spcAft>
                <a:spcPts val="100"/>
              </a:spcAft>
            </a:pPr>
            <a:r>
              <a:rPr sz="850" b="0" i="0">
                <a:solidFill>
                  <a:srgbClr val="8FABBE"/>
                </a:solidFill>
              </a:rPr>
              <a:t>Target constructed using KDIGO grid on eGFR + albuminuria.  eGFR / creatinine are used ONLY to build training labels — never used as model input features.</a:t>
            </a:r>
          </a:p>
        </p:txBody>
      </p:sp>
      <p:sp>
        <p:nvSpPr>
          <p:cNvPr id="12" name="Rectangle 11"/>
          <p:cNvSpPr/>
          <p:nvPr/>
        </p:nvSpPr>
        <p:spPr>
          <a:xfrm>
            <a:off x="365760" y="3950208"/>
            <a:ext cx="5577840" cy="202996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4069080"/>
            <a:ext cx="5321807" cy="219456"/>
          </a:xfrm>
          <a:prstGeom prst="rect">
            <a:avLst/>
          </a:prstGeom>
          <a:noFill/>
        </p:spPr>
        <p:txBody>
          <a:bodyPr wrap="square">
            <a:spAutoFit/>
          </a:bodyPr>
          <a:lstStyle/>
          <a:p>
            <a:pPr algn="l">
              <a:spcBef>
                <a:spcPts val="0"/>
              </a:spcBef>
              <a:spcAft>
                <a:spcPts val="100"/>
              </a:spcAft>
            </a:pPr>
            <a:r>
              <a:rPr sz="700" b="1" i="0">
                <a:solidFill>
                  <a:srgbClr val="00C9FF"/>
                </a:solidFill>
              </a:rPr>
              <a:t>WHY NHANES?</a:t>
            </a:r>
          </a:p>
        </p:txBody>
      </p:sp>
      <p:sp>
        <p:nvSpPr>
          <p:cNvPr id="14" name="TextBox 13"/>
          <p:cNvSpPr txBox="1"/>
          <p:nvPr/>
        </p:nvSpPr>
        <p:spPr>
          <a:xfrm>
            <a:off x="512064" y="4297680"/>
            <a:ext cx="5321807" cy="1591056"/>
          </a:xfrm>
          <a:prstGeom prst="rect">
            <a:avLst/>
          </a:prstGeom>
          <a:noFill/>
        </p:spPr>
        <p:txBody>
          <a:bodyPr wrap="square">
            <a:spAutoFit/>
          </a:bodyPr>
          <a:lstStyle/>
          <a:p>
            <a:pPr algn="l">
              <a:spcBef>
                <a:spcPts val="0"/>
              </a:spcBef>
              <a:spcAft>
                <a:spcPts val="100"/>
              </a:spcAft>
            </a:pPr>
            <a:r>
              <a:rPr sz="850" b="0" i="0">
                <a:solidFill>
                  <a:srgbClr val="8FABBE"/>
                </a:solidFill>
              </a:rPr>
              <a:t>✓  Contains all 22 of our non-invasive input features</a:t>
            </a:r>
          </a:p>
          <a:p>
            <a:pPr algn="l">
              <a:spcBef>
                <a:spcPts val="0"/>
              </a:spcBef>
              <a:spcAft>
                <a:spcPts val="100"/>
              </a:spcAft>
            </a:pPr>
            <a:r>
              <a:rPr sz="850" b="0" i="0">
                <a:solidFill>
                  <a:srgbClr val="8FABBE"/>
                </a:solidFill>
              </a:rPr>
              <a:t>✓  Also contains eGFR &amp; UACR for label construction</a:t>
            </a:r>
          </a:p>
          <a:p>
            <a:pPr algn="l">
              <a:spcBef>
                <a:spcPts val="0"/>
              </a:spcBef>
              <a:spcAft>
                <a:spcPts val="100"/>
              </a:spcAft>
            </a:pPr>
            <a:r>
              <a:rPr sz="850" b="0" i="0">
                <a:solidFill>
                  <a:srgbClr val="8FABBE"/>
                </a:solidFill>
              </a:rPr>
              <a:t>✓  Representative general population — not just clinic patients</a:t>
            </a:r>
          </a:p>
          <a:p>
            <a:pPr algn="l">
              <a:spcBef>
                <a:spcPts val="0"/>
              </a:spcBef>
              <a:spcAft>
                <a:spcPts val="100"/>
              </a:spcAft>
            </a:pPr>
            <a:r>
              <a:rPr sz="850" b="0" i="0">
                <a:solidFill>
                  <a:srgbClr val="8FABBE"/>
                </a:solidFill>
              </a:rPr>
              <a:t>✓  Publicly available — fully reproducible research pipeline</a:t>
            </a:r>
          </a:p>
        </p:txBody>
      </p:sp>
      <p:sp>
        <p:nvSpPr>
          <p:cNvPr id="15" name="Rectangle 14"/>
          <p:cNvSpPr/>
          <p:nvPr/>
        </p:nvSpPr>
        <p:spPr>
          <a:xfrm>
            <a:off x="6062472" y="3950208"/>
            <a:ext cx="5577840" cy="2029968"/>
          </a:xfrm>
          <a:prstGeom prst="rect">
            <a:avLst/>
          </a:prstGeom>
          <a:solidFill>
            <a:srgbClr val="1C080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62472" y="3950208"/>
            <a:ext cx="50292" cy="202996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2784" y="4069080"/>
            <a:ext cx="5321807" cy="219456"/>
          </a:xfrm>
          <a:prstGeom prst="rect">
            <a:avLst/>
          </a:prstGeom>
          <a:noFill/>
        </p:spPr>
        <p:txBody>
          <a:bodyPr wrap="square">
            <a:spAutoFit/>
          </a:bodyPr>
          <a:lstStyle/>
          <a:p>
            <a:pPr algn="l">
              <a:spcBef>
                <a:spcPts val="0"/>
              </a:spcBef>
              <a:spcAft>
                <a:spcPts val="100"/>
              </a:spcAft>
            </a:pPr>
            <a:r>
              <a:rPr sz="700" b="1" i="0">
                <a:solidFill>
                  <a:srgbClr val="00C9FF"/>
                </a:solidFill>
              </a:rPr>
              <a:t>KEY DESIGN DECISION</a:t>
            </a:r>
          </a:p>
        </p:txBody>
      </p:sp>
      <p:sp>
        <p:nvSpPr>
          <p:cNvPr id="18" name="TextBox 17"/>
          <p:cNvSpPr txBox="1"/>
          <p:nvPr/>
        </p:nvSpPr>
        <p:spPr>
          <a:xfrm>
            <a:off x="6272784" y="4297680"/>
            <a:ext cx="5303520" cy="1591056"/>
          </a:xfrm>
          <a:prstGeom prst="rect">
            <a:avLst/>
          </a:prstGeom>
          <a:noFill/>
        </p:spPr>
        <p:txBody>
          <a:bodyPr wrap="square">
            <a:spAutoFit/>
          </a:bodyPr>
          <a:lstStyle/>
          <a:p>
            <a:pPr algn="l">
              <a:spcBef>
                <a:spcPts val="0"/>
              </a:spcBef>
              <a:spcAft>
                <a:spcPts val="100"/>
              </a:spcAft>
            </a:pPr>
            <a:r>
              <a:rPr sz="850" b="0" i="0">
                <a:solidFill>
                  <a:srgbClr val="8FABBE"/>
                </a:solidFill>
              </a:rPr>
              <a:t>eGFR and creatinine are used only to construct training labels via the KDIGO grid. They are deliberately excluded from the model's input features. The trained model therefore works without specialist labs — enabling non-invasive deployment in community settings.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FEATURE ENGINEERING</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00C9FF"/>
                </a:solidFill>
              </a:rPr>
              <a:t>22 </a:t>
            </a:r>
            <a:r>
              <a:rPr sz="2600" b="1">
                <a:solidFill>
                  <a:srgbClr val="FFFFFF"/>
                </a:solidFill>
              </a:rPr>
              <a:t>Non-Invasive</a:t>
            </a:r>
            <a:r>
              <a:rPr sz="2600" b="1">
                <a:solidFill>
                  <a:srgbClr val="00C9FF"/>
                </a:solidFill>
              </a:rPr>
              <a:t> Input Features</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Everything measurable at a community health check — no specialist lab required</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81328"/>
            <a:ext cx="3712463" cy="228600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 y="1572768"/>
            <a:ext cx="3511295" cy="201168"/>
          </a:xfrm>
          <a:prstGeom prst="rect">
            <a:avLst/>
          </a:prstGeom>
          <a:noFill/>
        </p:spPr>
        <p:txBody>
          <a:bodyPr wrap="square">
            <a:spAutoFit/>
          </a:bodyPr>
          <a:lstStyle/>
          <a:p>
            <a:pPr algn="l">
              <a:spcBef>
                <a:spcPts val="0"/>
              </a:spcBef>
              <a:spcAft>
                <a:spcPts val="100"/>
              </a:spcAft>
            </a:pPr>
            <a:r>
              <a:rPr sz="650" b="1" i="0">
                <a:solidFill>
                  <a:srgbClr val="00C9FF"/>
                </a:solidFill>
              </a:rPr>
              <a:t>DEMOGRAPHIC (3)</a:t>
            </a:r>
          </a:p>
        </p:txBody>
      </p:sp>
      <p:sp>
        <p:nvSpPr>
          <p:cNvPr id="8" name="TextBox 7"/>
          <p:cNvSpPr txBox="1"/>
          <p:nvPr/>
        </p:nvSpPr>
        <p:spPr>
          <a:xfrm>
            <a:off x="493776" y="1810512"/>
            <a:ext cx="3511295" cy="1865376"/>
          </a:xfrm>
          <a:prstGeom prst="rect">
            <a:avLst/>
          </a:prstGeom>
          <a:noFill/>
        </p:spPr>
        <p:txBody>
          <a:bodyPr wrap="square">
            <a:spAutoFit/>
          </a:bodyPr>
          <a:lstStyle/>
          <a:p>
            <a:pPr algn="l">
              <a:spcBef>
                <a:spcPts val="0"/>
              </a:spcBef>
              <a:spcAft>
                <a:spcPts val="100"/>
              </a:spcAft>
            </a:pPr>
            <a:r>
              <a:rPr sz="850" b="0" i="0">
                <a:solidFill>
                  <a:srgbClr val="8FABBE"/>
                </a:solidFill>
              </a:rPr>
              <a:t>Age (years)</a:t>
            </a:r>
          </a:p>
          <a:p>
            <a:pPr algn="l">
              <a:spcBef>
                <a:spcPts val="0"/>
              </a:spcBef>
              <a:spcAft>
                <a:spcPts val="100"/>
              </a:spcAft>
            </a:pPr>
            <a:r>
              <a:rPr sz="850" b="0" i="0">
                <a:solidFill>
                  <a:srgbClr val="8FABBE"/>
                </a:solidFill>
              </a:rPr>
              <a:t>Sex (M/F)</a:t>
            </a:r>
          </a:p>
          <a:p>
            <a:pPr algn="l">
              <a:spcBef>
                <a:spcPts val="0"/>
              </a:spcBef>
              <a:spcAft>
                <a:spcPts val="100"/>
              </a:spcAft>
            </a:pPr>
            <a:r>
              <a:rPr sz="850" b="0" i="0">
                <a:solidFill>
                  <a:srgbClr val="8FABBE"/>
                </a:solidFill>
              </a:rPr>
              <a:t>Income-to-poverty ratio</a:t>
            </a:r>
          </a:p>
        </p:txBody>
      </p:sp>
      <p:sp>
        <p:nvSpPr>
          <p:cNvPr id="9" name="Rectangle 8"/>
          <p:cNvSpPr/>
          <p:nvPr/>
        </p:nvSpPr>
        <p:spPr>
          <a:xfrm>
            <a:off x="4238244" y="1481328"/>
            <a:ext cx="3712463" cy="228600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66259" y="1572768"/>
            <a:ext cx="3511295" cy="201168"/>
          </a:xfrm>
          <a:prstGeom prst="rect">
            <a:avLst/>
          </a:prstGeom>
          <a:noFill/>
        </p:spPr>
        <p:txBody>
          <a:bodyPr wrap="square">
            <a:spAutoFit/>
          </a:bodyPr>
          <a:lstStyle/>
          <a:p>
            <a:pPr algn="l">
              <a:spcBef>
                <a:spcPts val="0"/>
              </a:spcBef>
              <a:spcAft>
                <a:spcPts val="100"/>
              </a:spcAft>
            </a:pPr>
            <a:r>
              <a:rPr sz="650" b="1" i="0">
                <a:solidFill>
                  <a:srgbClr val="00C9FF"/>
                </a:solidFill>
              </a:rPr>
              <a:t>ANTHROPOMETRIC (2)</a:t>
            </a:r>
          </a:p>
        </p:txBody>
      </p:sp>
      <p:sp>
        <p:nvSpPr>
          <p:cNvPr id="11" name="TextBox 10"/>
          <p:cNvSpPr txBox="1"/>
          <p:nvPr/>
        </p:nvSpPr>
        <p:spPr>
          <a:xfrm>
            <a:off x="4366259" y="1810512"/>
            <a:ext cx="3511295" cy="1865376"/>
          </a:xfrm>
          <a:prstGeom prst="rect">
            <a:avLst/>
          </a:prstGeom>
          <a:noFill/>
        </p:spPr>
        <p:txBody>
          <a:bodyPr wrap="square">
            <a:spAutoFit/>
          </a:bodyPr>
          <a:lstStyle/>
          <a:p>
            <a:pPr algn="l">
              <a:spcBef>
                <a:spcPts val="0"/>
              </a:spcBef>
              <a:spcAft>
                <a:spcPts val="100"/>
              </a:spcAft>
            </a:pPr>
            <a:r>
              <a:rPr sz="850" b="0" i="0">
                <a:solidFill>
                  <a:srgbClr val="8FABBE"/>
                </a:solidFill>
              </a:rPr>
              <a:t>BMI (kg/m²)</a:t>
            </a:r>
          </a:p>
          <a:p>
            <a:pPr algn="l">
              <a:spcBef>
                <a:spcPts val="0"/>
              </a:spcBef>
              <a:spcAft>
                <a:spcPts val="100"/>
              </a:spcAft>
            </a:pPr>
            <a:r>
              <a:rPr sz="850" b="0" i="0">
                <a:solidFill>
                  <a:srgbClr val="8FABBE"/>
                </a:solidFill>
              </a:rPr>
              <a:t>Waist circumference (cm)</a:t>
            </a:r>
          </a:p>
        </p:txBody>
      </p:sp>
      <p:sp>
        <p:nvSpPr>
          <p:cNvPr id="12" name="Rectangle 11"/>
          <p:cNvSpPr/>
          <p:nvPr/>
        </p:nvSpPr>
        <p:spPr>
          <a:xfrm>
            <a:off x="8110727" y="1481328"/>
            <a:ext cx="3712463" cy="228600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38744" y="1572768"/>
            <a:ext cx="3511295" cy="201168"/>
          </a:xfrm>
          <a:prstGeom prst="rect">
            <a:avLst/>
          </a:prstGeom>
          <a:noFill/>
        </p:spPr>
        <p:txBody>
          <a:bodyPr wrap="square">
            <a:spAutoFit/>
          </a:bodyPr>
          <a:lstStyle/>
          <a:p>
            <a:pPr algn="l">
              <a:spcBef>
                <a:spcPts val="0"/>
              </a:spcBef>
              <a:spcAft>
                <a:spcPts val="100"/>
              </a:spcAft>
            </a:pPr>
            <a:r>
              <a:rPr sz="650" b="1" i="0">
                <a:solidFill>
                  <a:srgbClr val="00C9FF"/>
                </a:solidFill>
              </a:rPr>
              <a:t>BLOOD PRESSURE (3)</a:t>
            </a:r>
          </a:p>
        </p:txBody>
      </p:sp>
      <p:sp>
        <p:nvSpPr>
          <p:cNvPr id="14" name="TextBox 13"/>
          <p:cNvSpPr txBox="1"/>
          <p:nvPr/>
        </p:nvSpPr>
        <p:spPr>
          <a:xfrm>
            <a:off x="8238744" y="1810512"/>
            <a:ext cx="3511295" cy="1865376"/>
          </a:xfrm>
          <a:prstGeom prst="rect">
            <a:avLst/>
          </a:prstGeom>
          <a:noFill/>
        </p:spPr>
        <p:txBody>
          <a:bodyPr wrap="square">
            <a:spAutoFit/>
          </a:bodyPr>
          <a:lstStyle/>
          <a:p>
            <a:pPr algn="l">
              <a:spcBef>
                <a:spcPts val="0"/>
              </a:spcBef>
              <a:spcAft>
                <a:spcPts val="100"/>
              </a:spcAft>
            </a:pPr>
            <a:r>
              <a:rPr sz="850" b="0" i="0">
                <a:solidFill>
                  <a:srgbClr val="8FABBE"/>
                </a:solidFill>
              </a:rPr>
              <a:t>Mean systolic BP (mmHg)</a:t>
            </a:r>
          </a:p>
          <a:p>
            <a:pPr algn="l">
              <a:spcBef>
                <a:spcPts val="0"/>
              </a:spcBef>
              <a:spcAft>
                <a:spcPts val="100"/>
              </a:spcAft>
            </a:pPr>
            <a:r>
              <a:rPr sz="850" b="0" i="0">
                <a:solidFill>
                  <a:srgbClr val="8FABBE"/>
                </a:solidFill>
              </a:rPr>
              <a:t>Mean diastolic BP (mmHg)</a:t>
            </a:r>
          </a:p>
          <a:p>
            <a:pPr algn="l">
              <a:spcBef>
                <a:spcPts val="0"/>
              </a:spcBef>
              <a:spcAft>
                <a:spcPts val="100"/>
              </a:spcAft>
            </a:pPr>
            <a:r>
              <a:rPr sz="850" b="0" i="0">
                <a:solidFill>
                  <a:srgbClr val="8FABBE"/>
                </a:solidFill>
              </a:rPr>
              <a:t>Mean pulse (bpm)</a:t>
            </a:r>
          </a:p>
        </p:txBody>
      </p:sp>
      <p:sp>
        <p:nvSpPr>
          <p:cNvPr id="15" name="Rectangle 14"/>
          <p:cNvSpPr/>
          <p:nvPr/>
        </p:nvSpPr>
        <p:spPr>
          <a:xfrm>
            <a:off x="365760" y="3840480"/>
            <a:ext cx="3712463" cy="228600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 y="3931920"/>
            <a:ext cx="3511295" cy="201168"/>
          </a:xfrm>
          <a:prstGeom prst="rect">
            <a:avLst/>
          </a:prstGeom>
          <a:noFill/>
        </p:spPr>
        <p:txBody>
          <a:bodyPr wrap="square">
            <a:spAutoFit/>
          </a:bodyPr>
          <a:lstStyle/>
          <a:p>
            <a:pPr algn="l">
              <a:spcBef>
                <a:spcPts val="0"/>
              </a:spcBef>
              <a:spcAft>
                <a:spcPts val="100"/>
              </a:spcAft>
            </a:pPr>
            <a:r>
              <a:rPr sz="650" b="1" i="0">
                <a:solidFill>
                  <a:srgbClr val="00C9FF"/>
                </a:solidFill>
              </a:rPr>
              <a:t>ROUTINE LABS (8)</a:t>
            </a:r>
          </a:p>
        </p:txBody>
      </p:sp>
      <p:sp>
        <p:nvSpPr>
          <p:cNvPr id="17" name="TextBox 16"/>
          <p:cNvSpPr txBox="1"/>
          <p:nvPr/>
        </p:nvSpPr>
        <p:spPr>
          <a:xfrm>
            <a:off x="493776" y="4169664"/>
            <a:ext cx="3511295" cy="1865376"/>
          </a:xfrm>
          <a:prstGeom prst="rect">
            <a:avLst/>
          </a:prstGeom>
          <a:noFill/>
        </p:spPr>
        <p:txBody>
          <a:bodyPr wrap="square">
            <a:spAutoFit/>
          </a:bodyPr>
          <a:lstStyle/>
          <a:p>
            <a:pPr algn="l">
              <a:spcBef>
                <a:spcPts val="0"/>
              </a:spcBef>
              <a:spcAft>
                <a:spcPts val="100"/>
              </a:spcAft>
            </a:pPr>
            <a:r>
              <a:rPr sz="850" b="0" i="0">
                <a:solidFill>
                  <a:srgbClr val="8FABBE"/>
                </a:solidFill>
              </a:rPr>
              <a:t>Fasting glucose (mg/dL)</a:t>
            </a:r>
          </a:p>
          <a:p>
            <a:pPr algn="l">
              <a:spcBef>
                <a:spcPts val="0"/>
              </a:spcBef>
              <a:spcAft>
                <a:spcPts val="100"/>
              </a:spcAft>
            </a:pPr>
            <a:r>
              <a:rPr sz="850" b="0" i="0">
                <a:solidFill>
                  <a:srgbClr val="8FABBE"/>
                </a:solidFill>
              </a:rPr>
              <a:t>HbA1c (%)</a:t>
            </a:r>
          </a:p>
          <a:p>
            <a:pPr algn="l">
              <a:spcBef>
                <a:spcPts val="0"/>
              </a:spcBef>
              <a:spcAft>
                <a:spcPts val="100"/>
              </a:spcAft>
            </a:pPr>
            <a:r>
              <a:rPr sz="850" b="0" i="0">
                <a:solidFill>
                  <a:srgbClr val="8FABBE"/>
                </a:solidFill>
              </a:rPr>
              <a:t>Blood urea nitrogen (mg/dL)</a:t>
            </a:r>
          </a:p>
          <a:p>
            <a:pPr algn="l">
              <a:spcBef>
                <a:spcPts val="0"/>
              </a:spcBef>
              <a:spcAft>
                <a:spcPts val="100"/>
              </a:spcAft>
            </a:pPr>
            <a:r>
              <a:rPr sz="850" b="0" i="0">
                <a:solidFill>
                  <a:srgbClr val="8FABBE"/>
                </a:solidFill>
              </a:rPr>
              <a:t>Uric acid (mg/dL)</a:t>
            </a:r>
          </a:p>
          <a:p>
            <a:pPr algn="l">
              <a:spcBef>
                <a:spcPts val="0"/>
              </a:spcBef>
              <a:spcAft>
                <a:spcPts val="100"/>
              </a:spcAft>
            </a:pPr>
            <a:r>
              <a:rPr sz="850" b="0" i="0">
                <a:solidFill>
                  <a:srgbClr val="8FABBE"/>
                </a:solidFill>
              </a:rPr>
              <a:t>Serum albumin (g/dL)</a:t>
            </a:r>
          </a:p>
          <a:p>
            <a:pPr algn="l">
              <a:spcBef>
                <a:spcPts val="0"/>
              </a:spcBef>
              <a:spcAft>
                <a:spcPts val="100"/>
              </a:spcAft>
            </a:pPr>
            <a:r>
              <a:rPr sz="850" b="0" i="0">
                <a:solidFill>
                  <a:srgbClr val="8FABBE"/>
                </a:solidFill>
              </a:rPr>
              <a:t>Sodium (mmol/L)</a:t>
            </a:r>
          </a:p>
          <a:p>
            <a:pPr algn="l">
              <a:spcBef>
                <a:spcPts val="0"/>
              </a:spcBef>
              <a:spcAft>
                <a:spcPts val="100"/>
              </a:spcAft>
            </a:pPr>
            <a:r>
              <a:rPr sz="850" b="0" i="0">
                <a:solidFill>
                  <a:srgbClr val="8FABBE"/>
                </a:solidFill>
              </a:rPr>
              <a:t>Potassium (mmol/L)</a:t>
            </a:r>
          </a:p>
          <a:p>
            <a:pPr algn="l">
              <a:spcBef>
                <a:spcPts val="0"/>
              </a:spcBef>
              <a:spcAft>
                <a:spcPts val="100"/>
              </a:spcAft>
            </a:pPr>
            <a:r>
              <a:rPr sz="850" b="0" i="0">
                <a:solidFill>
                  <a:srgbClr val="8FABBE"/>
                </a:solidFill>
              </a:rPr>
              <a:t>Hemoglobin (g/dL)</a:t>
            </a:r>
          </a:p>
        </p:txBody>
      </p:sp>
      <p:sp>
        <p:nvSpPr>
          <p:cNvPr id="18" name="Rectangle 17"/>
          <p:cNvSpPr/>
          <p:nvPr/>
        </p:nvSpPr>
        <p:spPr>
          <a:xfrm>
            <a:off x="4238244" y="3840480"/>
            <a:ext cx="3712463" cy="228600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66259" y="3931920"/>
            <a:ext cx="3511295" cy="201168"/>
          </a:xfrm>
          <a:prstGeom prst="rect">
            <a:avLst/>
          </a:prstGeom>
          <a:noFill/>
        </p:spPr>
        <p:txBody>
          <a:bodyPr wrap="square">
            <a:spAutoFit/>
          </a:bodyPr>
          <a:lstStyle/>
          <a:p>
            <a:pPr algn="l">
              <a:spcBef>
                <a:spcPts val="0"/>
              </a:spcBef>
              <a:spcAft>
                <a:spcPts val="100"/>
              </a:spcAft>
            </a:pPr>
            <a:r>
              <a:rPr sz="650" b="1" i="0">
                <a:solidFill>
                  <a:srgbClr val="00C9FF"/>
                </a:solidFill>
              </a:rPr>
              <a:t>COMORBIDITY FLAGS (6 BINARY)</a:t>
            </a:r>
          </a:p>
        </p:txBody>
      </p:sp>
      <p:sp>
        <p:nvSpPr>
          <p:cNvPr id="20" name="TextBox 19"/>
          <p:cNvSpPr txBox="1"/>
          <p:nvPr/>
        </p:nvSpPr>
        <p:spPr>
          <a:xfrm>
            <a:off x="4366259" y="4169664"/>
            <a:ext cx="3511295" cy="1865376"/>
          </a:xfrm>
          <a:prstGeom prst="rect">
            <a:avLst/>
          </a:prstGeom>
          <a:noFill/>
        </p:spPr>
        <p:txBody>
          <a:bodyPr wrap="square">
            <a:spAutoFit/>
          </a:bodyPr>
          <a:lstStyle/>
          <a:p>
            <a:pPr algn="l">
              <a:spcBef>
                <a:spcPts val="0"/>
              </a:spcBef>
              <a:spcAft>
                <a:spcPts val="100"/>
              </a:spcAft>
            </a:pPr>
            <a:r>
              <a:rPr sz="850" b="0" i="0">
                <a:solidFill>
                  <a:srgbClr val="8FABBE"/>
                </a:solidFill>
              </a:rPr>
              <a:t>Diagnosed diabetes</a:t>
            </a:r>
          </a:p>
          <a:p>
            <a:pPr algn="l">
              <a:spcBef>
                <a:spcPts val="0"/>
              </a:spcBef>
              <a:spcAft>
                <a:spcPts val="100"/>
              </a:spcAft>
            </a:pPr>
            <a:r>
              <a:rPr sz="850" b="0" i="0">
                <a:solidFill>
                  <a:srgbClr val="8FABBE"/>
                </a:solidFill>
              </a:rPr>
              <a:t>Prediabetes / borderline</a:t>
            </a:r>
          </a:p>
          <a:p>
            <a:pPr algn="l">
              <a:spcBef>
                <a:spcPts val="0"/>
              </a:spcBef>
              <a:spcAft>
                <a:spcPts val="100"/>
              </a:spcAft>
            </a:pPr>
            <a:r>
              <a:rPr sz="850" b="0" i="0">
                <a:solidFill>
                  <a:srgbClr val="8FABBE"/>
                </a:solidFill>
              </a:rPr>
              <a:t>Diagnosed hypertension</a:t>
            </a:r>
          </a:p>
          <a:p>
            <a:pPr algn="l">
              <a:spcBef>
                <a:spcPts val="0"/>
              </a:spcBef>
              <a:spcAft>
                <a:spcPts val="100"/>
              </a:spcAft>
            </a:pPr>
            <a:r>
              <a:rPr sz="850" b="0" i="0">
                <a:solidFill>
                  <a:srgbClr val="8FABBE"/>
                </a:solidFill>
              </a:rPr>
              <a:t>Diagnosed high cholesterol</a:t>
            </a:r>
          </a:p>
          <a:p>
            <a:pPr algn="l">
              <a:spcBef>
                <a:spcPts val="0"/>
              </a:spcBef>
              <a:spcAft>
                <a:spcPts val="100"/>
              </a:spcAft>
            </a:pPr>
            <a:r>
              <a:rPr sz="850" b="0" i="0">
                <a:solidFill>
                  <a:srgbClr val="8FABBE"/>
                </a:solidFill>
              </a:rPr>
              <a:t>Taking BP medication</a:t>
            </a:r>
          </a:p>
          <a:p>
            <a:pPr algn="l">
              <a:spcBef>
                <a:spcPts val="0"/>
              </a:spcBef>
              <a:spcAft>
                <a:spcPts val="100"/>
              </a:spcAft>
            </a:pPr>
            <a:r>
              <a:rPr sz="850" b="0" i="0">
                <a:solidFill>
                  <a:srgbClr val="8FABBE"/>
                </a:solidFill>
              </a:rPr>
              <a:t>Taking cholesterol medication</a:t>
            </a:r>
          </a:p>
        </p:txBody>
      </p:sp>
      <p:sp>
        <p:nvSpPr>
          <p:cNvPr id="21" name="Rectangle 20"/>
          <p:cNvSpPr/>
          <p:nvPr/>
        </p:nvSpPr>
        <p:spPr>
          <a:xfrm>
            <a:off x="8110727" y="3840480"/>
            <a:ext cx="3712463" cy="2286000"/>
          </a:xfrm>
          <a:prstGeom prst="rect">
            <a:avLst/>
          </a:prstGeom>
          <a:solidFill>
            <a:srgbClr val="1C080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931920"/>
            <a:ext cx="3511295" cy="201168"/>
          </a:xfrm>
          <a:prstGeom prst="rect">
            <a:avLst/>
          </a:prstGeom>
          <a:noFill/>
        </p:spPr>
        <p:txBody>
          <a:bodyPr wrap="square">
            <a:spAutoFit/>
          </a:bodyPr>
          <a:lstStyle/>
          <a:p>
            <a:pPr algn="l">
              <a:spcBef>
                <a:spcPts val="0"/>
              </a:spcBef>
              <a:spcAft>
                <a:spcPts val="100"/>
              </a:spcAft>
            </a:pPr>
            <a:r>
              <a:rPr sz="650" b="1" i="0">
                <a:solidFill>
                  <a:srgbClr val="EF4444"/>
                </a:solidFill>
              </a:rPr>
              <a:t>DELIBERATELY EXCLUDED  ✕</a:t>
            </a:r>
          </a:p>
        </p:txBody>
      </p:sp>
      <p:sp>
        <p:nvSpPr>
          <p:cNvPr id="23" name="TextBox 22"/>
          <p:cNvSpPr txBox="1"/>
          <p:nvPr/>
        </p:nvSpPr>
        <p:spPr>
          <a:xfrm>
            <a:off x="8238744" y="4169664"/>
            <a:ext cx="3511295" cy="1865376"/>
          </a:xfrm>
          <a:prstGeom prst="rect">
            <a:avLst/>
          </a:prstGeom>
          <a:noFill/>
        </p:spPr>
        <p:txBody>
          <a:bodyPr wrap="square">
            <a:spAutoFit/>
          </a:bodyPr>
          <a:lstStyle/>
          <a:p>
            <a:pPr algn="l">
              <a:spcBef>
                <a:spcPts val="0"/>
              </a:spcBef>
              <a:spcAft>
                <a:spcPts val="100"/>
              </a:spcAft>
            </a:pPr>
            <a:r>
              <a:rPr sz="850" b="0" i="0">
                <a:solidFill>
                  <a:srgbClr val="8FABBE"/>
                </a:solidFill>
              </a:rPr>
              <a:t>✕  Serum creatinine</a:t>
            </a:r>
          </a:p>
          <a:p>
            <a:pPr algn="l">
              <a:spcBef>
                <a:spcPts val="0"/>
              </a:spcBef>
              <a:spcAft>
                <a:spcPts val="100"/>
              </a:spcAft>
            </a:pPr>
            <a:r>
              <a:rPr sz="850" b="0" i="0">
                <a:solidFill>
                  <a:srgbClr val="8FABBE"/>
                </a:solidFill>
              </a:rPr>
              <a:t>✕  eGFR (estimated / calculated)</a:t>
            </a:r>
          </a:p>
          <a:p>
            <a:pPr algn="l">
              <a:spcBef>
                <a:spcPts val="0"/>
              </a:spcBef>
              <a:spcAft>
                <a:spcPts val="100"/>
              </a:spcAft>
            </a:pPr>
            <a:r>
              <a:rPr sz="850" b="0" i="0">
                <a:solidFill>
                  <a:srgbClr val="8FABBE"/>
                </a:solidFill>
              </a:rPr>
              <a:t>✕  UACR (urine albumin-creatinine)</a:t>
            </a:r>
          </a:p>
          <a:p>
            <a:pPr algn="l">
              <a:spcBef>
                <a:spcPts val="0"/>
              </a:spcBef>
              <a:spcAft>
                <a:spcPts val="100"/>
              </a:spcAft>
            </a:pPr>
            <a:r>
              <a:rPr sz="850" b="0" i="0">
                <a:solidFill>
                  <a:srgbClr val="8FABBE"/>
                </a:solidFill>
              </a:rPr>
              <a:t>✕  Urine protein / dipstick</a:t>
            </a:r>
          </a:p>
          <a:p>
            <a:pPr algn="l">
              <a:spcBef>
                <a:spcPts val="0"/>
              </a:spcBef>
              <a:spcAft>
                <a:spcPts val="100"/>
              </a:spcAft>
            </a:pPr>
            <a:r>
              <a:rPr sz="850" b="0" i="0">
                <a:solidFill>
                  <a:srgbClr val="8FABBE"/>
                </a:solidFill>
              </a:rPr>
              <a:t/>
            </a:r>
          </a:p>
          <a:p>
            <a:pPr algn="l">
              <a:spcBef>
                <a:spcPts val="0"/>
              </a:spcBef>
              <a:spcAft>
                <a:spcPts val="100"/>
              </a:spcAft>
            </a:pPr>
            <a:r>
              <a:rPr sz="850" b="0" i="0">
                <a:solidFill>
                  <a:srgbClr val="8FABBE"/>
                </a:solidFill>
              </a:rPr>
              <a:t>Excluding these is the enabling design decision for community-level screening.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ML ARCHITECTURE</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Two-Stage </a:t>
            </a:r>
            <a:r>
              <a:rPr sz="2600" b="1">
                <a:solidFill>
                  <a:srgbClr val="00C9FF"/>
                </a:solidFill>
              </a:rPr>
              <a:t>Cascade</a:t>
            </a:r>
            <a:r>
              <a:rPr sz="2600" b="1">
                <a:solidFill>
                  <a:srgbClr val="FFFFFF"/>
                </a:solidFill>
              </a:rPr>
              <a:t> Design</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Separate models for at-risk detection and high-risk discrimination</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0" cy="56692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81912"/>
            <a:ext cx="4800600" cy="210312"/>
          </a:xfrm>
          <a:prstGeom prst="rect">
            <a:avLst/>
          </a:prstGeom>
          <a:noFill/>
        </p:spPr>
        <p:txBody>
          <a:bodyPr wrap="square">
            <a:spAutoFit/>
          </a:bodyPr>
          <a:lstStyle/>
          <a:p>
            <a:pPr algn="l">
              <a:spcBef>
                <a:spcPts val="0"/>
              </a:spcBef>
              <a:spcAft>
                <a:spcPts val="100"/>
              </a:spcAft>
            </a:pPr>
            <a:r>
              <a:rPr sz="650" b="1" i="0">
                <a:solidFill>
                  <a:srgbClr val="8FABBE"/>
                </a:solidFill>
              </a:rPr>
              <a:t>22 FEATURE INPUT</a:t>
            </a:r>
          </a:p>
        </p:txBody>
      </p:sp>
      <p:sp>
        <p:nvSpPr>
          <p:cNvPr id="8" name="TextBox 7"/>
          <p:cNvSpPr txBox="1"/>
          <p:nvPr/>
        </p:nvSpPr>
        <p:spPr>
          <a:xfrm>
            <a:off x="502920" y="1792224"/>
            <a:ext cx="4800600" cy="201167"/>
          </a:xfrm>
          <a:prstGeom prst="rect">
            <a:avLst/>
          </a:prstGeom>
          <a:noFill/>
        </p:spPr>
        <p:txBody>
          <a:bodyPr wrap="square">
            <a:spAutoFit/>
          </a:bodyPr>
          <a:lstStyle/>
          <a:p>
            <a:pPr algn="l">
              <a:spcBef>
                <a:spcPts val="0"/>
              </a:spcBef>
              <a:spcAft>
                <a:spcPts val="100"/>
              </a:spcAft>
            </a:pPr>
            <a:r>
              <a:rPr sz="800" b="0" i="0">
                <a:solidFill>
                  <a:srgbClr val="8FABBE"/>
                </a:solidFill>
              </a:rPr>
              <a:t>All non-invasive patient features</a:t>
            </a:r>
          </a:p>
        </p:txBody>
      </p:sp>
      <p:sp>
        <p:nvSpPr>
          <p:cNvPr id="9" name="TextBox 8"/>
          <p:cNvSpPr txBox="1"/>
          <p:nvPr/>
        </p:nvSpPr>
        <p:spPr>
          <a:xfrm>
            <a:off x="365760" y="2075688"/>
            <a:ext cx="5029200" cy="274320"/>
          </a:xfrm>
          <a:prstGeom prst="rect">
            <a:avLst/>
          </a:prstGeom>
          <a:noFill/>
        </p:spPr>
        <p:txBody>
          <a:bodyPr wrap="square">
            <a:spAutoFit/>
          </a:bodyPr>
          <a:lstStyle/>
          <a:p>
            <a:pPr algn="ctr">
              <a:spcBef>
                <a:spcPts val="0"/>
              </a:spcBef>
              <a:spcAft>
                <a:spcPts val="100"/>
              </a:spcAft>
            </a:pPr>
            <a:r>
              <a:rPr sz="1400" b="1" i="0">
                <a:solidFill>
                  <a:srgbClr val="00C9FF"/>
                </a:solidFill>
              </a:rPr>
              <a:t>▼</a:t>
            </a:r>
          </a:p>
        </p:txBody>
      </p:sp>
      <p:sp>
        <p:nvSpPr>
          <p:cNvPr id="10" name="Rectangle 9"/>
          <p:cNvSpPr/>
          <p:nvPr/>
        </p:nvSpPr>
        <p:spPr>
          <a:xfrm>
            <a:off x="365760" y="2350008"/>
            <a:ext cx="5029200" cy="82296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423160"/>
            <a:ext cx="4800600" cy="210312"/>
          </a:xfrm>
          <a:prstGeom prst="rect">
            <a:avLst/>
          </a:prstGeom>
          <a:noFill/>
        </p:spPr>
        <p:txBody>
          <a:bodyPr wrap="square">
            <a:spAutoFit/>
          </a:bodyPr>
          <a:lstStyle/>
          <a:p>
            <a:pPr algn="l">
              <a:spcBef>
                <a:spcPts val="0"/>
              </a:spcBef>
              <a:spcAft>
                <a:spcPts val="100"/>
              </a:spcAft>
            </a:pPr>
            <a:r>
              <a:rPr sz="650" b="1" i="0">
                <a:solidFill>
                  <a:srgbClr val="00C9FF"/>
                </a:solidFill>
              </a:rPr>
              <a:t>STAGE 1 — RANDOM FOREST GATE</a:t>
            </a:r>
          </a:p>
        </p:txBody>
      </p:sp>
      <p:sp>
        <p:nvSpPr>
          <p:cNvPr id="12" name="TextBox 11"/>
          <p:cNvSpPr txBox="1"/>
          <p:nvPr/>
        </p:nvSpPr>
        <p:spPr>
          <a:xfrm>
            <a:off x="502920" y="2633472"/>
            <a:ext cx="4800600" cy="457200"/>
          </a:xfrm>
          <a:prstGeom prst="rect">
            <a:avLst/>
          </a:prstGeom>
          <a:noFill/>
        </p:spPr>
        <p:txBody>
          <a:bodyPr wrap="square">
            <a:spAutoFit/>
          </a:bodyPr>
          <a:lstStyle/>
          <a:p>
            <a:pPr algn="l">
              <a:spcBef>
                <a:spcPts val="0"/>
              </a:spcBef>
              <a:spcAft>
                <a:spcPts val="100"/>
              </a:spcAft>
            </a:pPr>
            <a:r>
              <a:rPr sz="800" b="0" i="0">
                <a:solidFill>
                  <a:srgbClr val="8FABBE"/>
                </a:solidFill>
              </a:rPr>
              <a:t>Binary: Low vs At-Risk   |   Threshold: 0.44   |   Tuned for high sensitivity</a:t>
            </a:r>
          </a:p>
        </p:txBody>
      </p:sp>
      <p:sp>
        <p:nvSpPr>
          <p:cNvPr id="13" name="TextBox 12"/>
          <p:cNvSpPr txBox="1"/>
          <p:nvPr/>
        </p:nvSpPr>
        <p:spPr>
          <a:xfrm>
            <a:off x="365760" y="3172968"/>
            <a:ext cx="5029200" cy="274320"/>
          </a:xfrm>
          <a:prstGeom prst="rect">
            <a:avLst/>
          </a:prstGeom>
          <a:noFill/>
        </p:spPr>
        <p:txBody>
          <a:bodyPr wrap="square">
            <a:spAutoFit/>
          </a:bodyPr>
          <a:lstStyle/>
          <a:p>
            <a:pPr algn="ctr">
              <a:spcBef>
                <a:spcPts val="0"/>
              </a:spcBef>
              <a:spcAft>
                <a:spcPts val="100"/>
              </a:spcAft>
            </a:pPr>
            <a:r>
              <a:rPr sz="1400" b="1" i="0">
                <a:solidFill>
                  <a:srgbClr val="00C9FF"/>
                </a:solidFill>
              </a:rPr>
              <a:t>▼</a:t>
            </a:r>
          </a:p>
        </p:txBody>
      </p:sp>
      <p:sp>
        <p:nvSpPr>
          <p:cNvPr id="14" name="TextBox 13"/>
          <p:cNvSpPr txBox="1"/>
          <p:nvPr/>
        </p:nvSpPr>
        <p:spPr>
          <a:xfrm>
            <a:off x="365760" y="3447288"/>
            <a:ext cx="5029200" cy="256032"/>
          </a:xfrm>
          <a:prstGeom prst="rect">
            <a:avLst/>
          </a:prstGeom>
          <a:noFill/>
        </p:spPr>
        <p:txBody>
          <a:bodyPr wrap="square">
            <a:spAutoFit/>
          </a:bodyPr>
          <a:lstStyle/>
          <a:p>
            <a:pPr algn="ctr">
              <a:spcBef>
                <a:spcPts val="0"/>
              </a:spcBef>
              <a:spcAft>
                <a:spcPts val="100"/>
              </a:spcAft>
            </a:pPr>
            <a:r>
              <a:rPr sz="850" b="0" i="1">
                <a:solidFill>
                  <a:srgbClr val="00C9FF"/>
                </a:solidFill>
              </a:rPr>
              <a:t>if  P(at-risk) ≥ 0.44  →  proceed to Stage 2</a:t>
            </a:r>
          </a:p>
        </p:txBody>
      </p:sp>
      <p:sp>
        <p:nvSpPr>
          <p:cNvPr id="15" name="TextBox 14"/>
          <p:cNvSpPr txBox="1"/>
          <p:nvPr/>
        </p:nvSpPr>
        <p:spPr>
          <a:xfrm>
            <a:off x="365760" y="3703320"/>
            <a:ext cx="5029200" cy="274320"/>
          </a:xfrm>
          <a:prstGeom prst="rect">
            <a:avLst/>
          </a:prstGeom>
          <a:noFill/>
        </p:spPr>
        <p:txBody>
          <a:bodyPr wrap="square">
            <a:spAutoFit/>
          </a:bodyPr>
          <a:lstStyle/>
          <a:p>
            <a:pPr algn="ctr">
              <a:spcBef>
                <a:spcPts val="0"/>
              </a:spcBef>
              <a:spcAft>
                <a:spcPts val="100"/>
              </a:spcAft>
            </a:pPr>
            <a:r>
              <a:rPr sz="1400" b="1" i="0">
                <a:solidFill>
                  <a:srgbClr val="00C9FF"/>
                </a:solidFill>
              </a:rPr>
              <a:t>▼</a:t>
            </a:r>
          </a:p>
        </p:txBody>
      </p:sp>
      <p:sp>
        <p:nvSpPr>
          <p:cNvPr id="16" name="Rectangle 15"/>
          <p:cNvSpPr/>
          <p:nvPr/>
        </p:nvSpPr>
        <p:spPr>
          <a:xfrm>
            <a:off x="365760" y="3977639"/>
            <a:ext cx="5029200" cy="822960"/>
          </a:xfrm>
          <a:prstGeom prst="rect">
            <a:avLst/>
          </a:prstGeom>
          <a:solidFill>
            <a:srgbClr val="120A2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050791"/>
            <a:ext cx="4800600" cy="210312"/>
          </a:xfrm>
          <a:prstGeom prst="rect">
            <a:avLst/>
          </a:prstGeom>
          <a:noFill/>
        </p:spPr>
        <p:txBody>
          <a:bodyPr wrap="square">
            <a:spAutoFit/>
          </a:bodyPr>
          <a:lstStyle/>
          <a:p>
            <a:pPr algn="l">
              <a:spcBef>
                <a:spcPts val="0"/>
              </a:spcBef>
              <a:spcAft>
                <a:spcPts val="100"/>
              </a:spcAft>
            </a:pPr>
            <a:r>
              <a:rPr sz="650" b="1" i="0">
                <a:solidFill>
                  <a:srgbClr val="A78BFA"/>
                </a:solidFill>
              </a:rPr>
              <a:t>STAGE 2 — GRADIENT BOOSTING DISCRIMINATOR</a:t>
            </a:r>
          </a:p>
        </p:txBody>
      </p:sp>
      <p:sp>
        <p:nvSpPr>
          <p:cNvPr id="18" name="TextBox 17"/>
          <p:cNvSpPr txBox="1"/>
          <p:nvPr/>
        </p:nvSpPr>
        <p:spPr>
          <a:xfrm>
            <a:off x="502920" y="4261103"/>
            <a:ext cx="4800600" cy="457200"/>
          </a:xfrm>
          <a:prstGeom prst="rect">
            <a:avLst/>
          </a:prstGeom>
          <a:noFill/>
        </p:spPr>
        <p:txBody>
          <a:bodyPr wrap="square">
            <a:spAutoFit/>
          </a:bodyPr>
          <a:lstStyle/>
          <a:p>
            <a:pPr algn="l">
              <a:spcBef>
                <a:spcPts val="0"/>
              </a:spcBef>
              <a:spcAft>
                <a:spcPts val="100"/>
              </a:spcAft>
            </a:pPr>
            <a:r>
              <a:rPr sz="800" b="0" i="0">
                <a:solidFill>
                  <a:srgbClr val="8FABBE"/>
                </a:solidFill>
              </a:rPr>
              <a:t>Binary within at-risk pool: Moderate vs High   |   Threshold: 0.50</a:t>
            </a:r>
          </a:p>
        </p:txBody>
      </p:sp>
      <p:sp>
        <p:nvSpPr>
          <p:cNvPr id="19" name="TextBox 18"/>
          <p:cNvSpPr txBox="1"/>
          <p:nvPr/>
        </p:nvSpPr>
        <p:spPr>
          <a:xfrm>
            <a:off x="365760" y="4800600"/>
            <a:ext cx="5029200" cy="274320"/>
          </a:xfrm>
          <a:prstGeom prst="rect">
            <a:avLst/>
          </a:prstGeom>
          <a:noFill/>
        </p:spPr>
        <p:txBody>
          <a:bodyPr wrap="square">
            <a:spAutoFit/>
          </a:bodyPr>
          <a:lstStyle/>
          <a:p>
            <a:pPr algn="ctr">
              <a:spcBef>
                <a:spcPts val="0"/>
              </a:spcBef>
              <a:spcAft>
                <a:spcPts val="100"/>
              </a:spcAft>
            </a:pPr>
            <a:r>
              <a:rPr sz="1400" b="1" i="0">
                <a:solidFill>
                  <a:srgbClr val="00C9FF"/>
                </a:solidFill>
              </a:rPr>
              <a:t>▼</a:t>
            </a:r>
          </a:p>
        </p:txBody>
      </p:sp>
      <p:sp>
        <p:nvSpPr>
          <p:cNvPr id="20" name="Rectangle 19"/>
          <p:cNvSpPr/>
          <p:nvPr/>
        </p:nvSpPr>
        <p:spPr>
          <a:xfrm>
            <a:off x="365760" y="5093208"/>
            <a:ext cx="1554480" cy="658368"/>
          </a:xfrm>
          <a:prstGeom prst="rect">
            <a:avLst/>
          </a:prstGeom>
          <a:solidFill>
            <a:srgbClr val="052314"/>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184648"/>
            <a:ext cx="1371600" cy="475488"/>
          </a:xfrm>
          <a:prstGeom prst="rect">
            <a:avLst/>
          </a:prstGeom>
          <a:noFill/>
        </p:spPr>
        <p:txBody>
          <a:bodyPr wrap="square">
            <a:spAutoFit/>
          </a:bodyPr>
          <a:lstStyle/>
          <a:p>
            <a:pPr algn="ctr">
              <a:spcBef>
                <a:spcPts val="0"/>
              </a:spcBef>
              <a:spcAft>
                <a:spcPts val="100"/>
              </a:spcAft>
            </a:pPr>
            <a:r>
              <a:rPr sz="850" b="1" i="0">
                <a:solidFill>
                  <a:srgbClr val="10B981"/>
                </a:solidFill>
              </a:rPr>
              <a:t>LOW RISK
P(at-risk) &lt; 0.44</a:t>
            </a:r>
          </a:p>
        </p:txBody>
      </p:sp>
      <p:sp>
        <p:nvSpPr>
          <p:cNvPr id="22" name="Rectangle 21"/>
          <p:cNvSpPr/>
          <p:nvPr/>
        </p:nvSpPr>
        <p:spPr>
          <a:xfrm>
            <a:off x="2011680" y="5093208"/>
            <a:ext cx="1554480" cy="658368"/>
          </a:xfrm>
          <a:prstGeom prst="rect">
            <a:avLst/>
          </a:prstGeom>
          <a:solidFill>
            <a:srgbClr val="231905"/>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03120" y="5184648"/>
            <a:ext cx="1371600" cy="475488"/>
          </a:xfrm>
          <a:prstGeom prst="rect">
            <a:avLst/>
          </a:prstGeom>
          <a:noFill/>
        </p:spPr>
        <p:txBody>
          <a:bodyPr wrap="square">
            <a:spAutoFit/>
          </a:bodyPr>
          <a:lstStyle/>
          <a:p>
            <a:pPr algn="ctr">
              <a:spcBef>
                <a:spcPts val="0"/>
              </a:spcBef>
              <a:spcAft>
                <a:spcPts val="100"/>
              </a:spcAft>
            </a:pPr>
            <a:r>
              <a:rPr sz="850" b="1" i="0">
                <a:solidFill>
                  <a:srgbClr val="F59E0B"/>
                </a:solidFill>
              </a:rPr>
              <a:t>MODERATE
P(high) &lt; 0.50</a:t>
            </a:r>
          </a:p>
        </p:txBody>
      </p:sp>
      <p:sp>
        <p:nvSpPr>
          <p:cNvPr id="24" name="Rectangle 23"/>
          <p:cNvSpPr/>
          <p:nvPr/>
        </p:nvSpPr>
        <p:spPr>
          <a:xfrm>
            <a:off x="3657600" y="5093208"/>
            <a:ext cx="1554480" cy="658368"/>
          </a:xfrm>
          <a:prstGeom prst="rect">
            <a:avLst/>
          </a:prstGeom>
          <a:solidFill>
            <a:srgbClr val="230808"/>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49039" y="5184648"/>
            <a:ext cx="1371600" cy="475488"/>
          </a:xfrm>
          <a:prstGeom prst="rect">
            <a:avLst/>
          </a:prstGeom>
          <a:noFill/>
        </p:spPr>
        <p:txBody>
          <a:bodyPr wrap="square">
            <a:spAutoFit/>
          </a:bodyPr>
          <a:lstStyle/>
          <a:p>
            <a:pPr algn="ctr">
              <a:spcBef>
                <a:spcPts val="0"/>
              </a:spcBef>
              <a:spcAft>
                <a:spcPts val="100"/>
              </a:spcAft>
            </a:pPr>
            <a:r>
              <a:rPr sz="850" b="1" i="0">
                <a:solidFill>
                  <a:srgbClr val="EF4444"/>
                </a:solidFill>
              </a:rPr>
              <a:t>HIGH RISK
P(high) ≥ 0.50</a:t>
            </a:r>
          </a:p>
        </p:txBody>
      </p:sp>
      <p:sp>
        <p:nvSpPr>
          <p:cNvPr id="26" name="Rectangle 25"/>
          <p:cNvSpPr/>
          <p:nvPr/>
        </p:nvSpPr>
        <p:spPr>
          <a:xfrm>
            <a:off x="5577840" y="1508760"/>
            <a:ext cx="6245352" cy="192024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1627631"/>
            <a:ext cx="5989320" cy="219456"/>
          </a:xfrm>
          <a:prstGeom prst="rect">
            <a:avLst/>
          </a:prstGeom>
          <a:noFill/>
        </p:spPr>
        <p:txBody>
          <a:bodyPr wrap="square">
            <a:spAutoFit/>
          </a:bodyPr>
          <a:lstStyle/>
          <a:p>
            <a:pPr algn="l">
              <a:spcBef>
                <a:spcPts val="0"/>
              </a:spcBef>
              <a:spcAft>
                <a:spcPts val="100"/>
              </a:spcAft>
            </a:pPr>
            <a:r>
              <a:rPr sz="700" b="1" i="0">
                <a:solidFill>
                  <a:srgbClr val="00C9FF"/>
                </a:solidFill>
              </a:rPr>
              <a:t>WHY TWO STAGES?</a:t>
            </a:r>
          </a:p>
        </p:txBody>
      </p:sp>
      <p:sp>
        <p:nvSpPr>
          <p:cNvPr id="28" name="TextBox 27"/>
          <p:cNvSpPr txBox="1"/>
          <p:nvPr/>
        </p:nvSpPr>
        <p:spPr>
          <a:xfrm>
            <a:off x="5724144" y="1856231"/>
            <a:ext cx="5989320" cy="1481328"/>
          </a:xfrm>
          <a:prstGeom prst="rect">
            <a:avLst/>
          </a:prstGeom>
          <a:noFill/>
        </p:spPr>
        <p:txBody>
          <a:bodyPr wrap="square">
            <a:spAutoFit/>
          </a:bodyPr>
          <a:lstStyle/>
          <a:p>
            <a:pPr algn="l">
              <a:spcBef>
                <a:spcPts val="0"/>
              </a:spcBef>
              <a:spcAft>
                <a:spcPts val="100"/>
              </a:spcAft>
            </a:pPr>
            <a:r>
              <a:rPr sz="850" b="0" i="0">
                <a:solidFill>
                  <a:srgbClr val="8FABBE"/>
                </a:solidFill>
              </a:rPr>
              <a:t>✓  Stage 1 optimised for recall — catch ALL at-risk patients</a:t>
            </a:r>
          </a:p>
          <a:p>
            <a:pPr algn="l">
              <a:spcBef>
                <a:spcPts val="0"/>
              </a:spcBef>
              <a:spcAft>
                <a:spcPts val="100"/>
              </a:spcAft>
            </a:pPr>
            <a:r>
              <a:rPr sz="850" b="0" i="0">
                <a:solidFill>
                  <a:srgbClr val="8FABBE"/>
                </a:solidFill>
              </a:rPr>
              <a:t>✓  Stage 2 optimised for precision — separate High from Moderate</a:t>
            </a:r>
          </a:p>
          <a:p>
            <a:pPr algn="l">
              <a:spcBef>
                <a:spcPts val="0"/>
              </a:spcBef>
              <a:spcAft>
                <a:spcPts val="100"/>
              </a:spcAft>
            </a:pPr>
            <a:r>
              <a:rPr sz="850" b="0" i="0">
                <a:solidFill>
                  <a:srgbClr val="8FABBE"/>
                </a:solidFill>
              </a:rPr>
              <a:t>✓  Minimises the most dangerous error: High→Low misses</a:t>
            </a:r>
          </a:p>
          <a:p>
            <a:pPr algn="l">
              <a:spcBef>
                <a:spcPts val="0"/>
              </a:spcBef>
              <a:spcAft>
                <a:spcPts val="100"/>
              </a:spcAft>
            </a:pPr>
            <a:r>
              <a:rPr sz="850" b="0" i="0">
                <a:solidFill>
                  <a:srgbClr val="8FABBE"/>
                </a:solidFill>
              </a:rPr>
              <a:t>✓  Handles severe class imbalance: low &gt;&gt; moderate &gt; high</a:t>
            </a:r>
          </a:p>
        </p:txBody>
      </p:sp>
      <p:sp>
        <p:nvSpPr>
          <p:cNvPr id="29" name="Rectangle 28"/>
          <p:cNvSpPr/>
          <p:nvPr/>
        </p:nvSpPr>
        <p:spPr>
          <a:xfrm>
            <a:off x="5577840" y="3502152"/>
            <a:ext cx="6245352" cy="141732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4144" y="3621024"/>
            <a:ext cx="5989320" cy="219456"/>
          </a:xfrm>
          <a:prstGeom prst="rect">
            <a:avLst/>
          </a:prstGeom>
          <a:noFill/>
        </p:spPr>
        <p:txBody>
          <a:bodyPr wrap="square">
            <a:spAutoFit/>
          </a:bodyPr>
          <a:lstStyle/>
          <a:p>
            <a:pPr algn="l">
              <a:spcBef>
                <a:spcPts val="0"/>
              </a:spcBef>
              <a:spcAft>
                <a:spcPts val="100"/>
              </a:spcAft>
            </a:pPr>
            <a:r>
              <a:rPr sz="700" b="1" i="0">
                <a:solidFill>
                  <a:srgbClr val="00C9FF"/>
                </a:solidFill>
              </a:rPr>
              <a:t>+ LOCAL PERTURBATION EXPLANATION</a:t>
            </a:r>
          </a:p>
        </p:txBody>
      </p:sp>
      <p:sp>
        <p:nvSpPr>
          <p:cNvPr id="31" name="TextBox 30"/>
          <p:cNvSpPr txBox="1"/>
          <p:nvPr/>
        </p:nvSpPr>
        <p:spPr>
          <a:xfrm>
            <a:off x="5724144" y="3849624"/>
            <a:ext cx="5971032" cy="978408"/>
          </a:xfrm>
          <a:prstGeom prst="rect">
            <a:avLst/>
          </a:prstGeom>
          <a:noFill/>
        </p:spPr>
        <p:txBody>
          <a:bodyPr wrap="square">
            <a:spAutoFit/>
          </a:bodyPr>
          <a:lstStyle/>
          <a:p>
            <a:pPr algn="l">
              <a:spcBef>
                <a:spcPts val="0"/>
              </a:spcBef>
              <a:spcAft>
                <a:spcPts val="100"/>
              </a:spcAft>
            </a:pPr>
            <a:r>
              <a:rPr sz="850" b="0" i="0">
                <a:solidFill>
                  <a:srgbClr val="8FABBE"/>
                </a:solidFill>
              </a:rPr>
              <a:t>For every prediction: model-agnostic perturbation replaces each feature with a reference value and measures probability change. Top 6 factors with direction (raises / lowers risk) are surfaced to the user and passed to the LLM for per-patient personalisation.</a:t>
            </a:r>
          </a:p>
        </p:txBody>
      </p:sp>
      <p:sp>
        <p:nvSpPr>
          <p:cNvPr id="32" name="Rectangle 31"/>
          <p:cNvSpPr/>
          <p:nvPr/>
        </p:nvSpPr>
        <p:spPr>
          <a:xfrm>
            <a:off x="5577840" y="4992624"/>
            <a:ext cx="6245352" cy="987552"/>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24144" y="5111496"/>
            <a:ext cx="5989320" cy="219456"/>
          </a:xfrm>
          <a:prstGeom prst="rect">
            <a:avLst/>
          </a:prstGeom>
          <a:noFill/>
        </p:spPr>
        <p:txBody>
          <a:bodyPr wrap="square">
            <a:spAutoFit/>
          </a:bodyPr>
          <a:lstStyle/>
          <a:p>
            <a:pPr algn="l">
              <a:spcBef>
                <a:spcPts val="0"/>
              </a:spcBef>
              <a:spcAft>
                <a:spcPts val="100"/>
              </a:spcAft>
            </a:pPr>
            <a:r>
              <a:rPr sz="700" b="1" i="0">
                <a:solidFill>
                  <a:srgbClr val="00C9FF"/>
                </a:solidFill>
              </a:rPr>
              <a:t>RELIABILITY SCORE PER PREDICTION</a:t>
            </a:r>
          </a:p>
        </p:txBody>
      </p:sp>
      <p:sp>
        <p:nvSpPr>
          <p:cNvPr id="34" name="TextBox 33"/>
          <p:cNvSpPr txBox="1"/>
          <p:nvPr/>
        </p:nvSpPr>
        <p:spPr>
          <a:xfrm>
            <a:off x="5724144" y="5340096"/>
            <a:ext cx="5971032" cy="548640"/>
          </a:xfrm>
          <a:prstGeom prst="rect">
            <a:avLst/>
          </a:prstGeom>
          <a:noFill/>
        </p:spPr>
        <p:txBody>
          <a:bodyPr wrap="square">
            <a:spAutoFit/>
          </a:bodyPr>
          <a:lstStyle/>
          <a:p>
            <a:pPr algn="l">
              <a:spcBef>
                <a:spcPts val="0"/>
              </a:spcBef>
              <a:spcAft>
                <a:spcPts val="100"/>
              </a:spcAft>
            </a:pPr>
            <a:r>
              <a:rPr sz="850" b="0" i="0">
                <a:solidFill>
                  <a:srgbClr val="8FABBE"/>
                </a:solidFill>
              </a:rPr>
              <a:t>High / Moderate / Low — based on confidence margin, proximity to decision boundary, and missing feature count.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EVALUATION</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ML </a:t>
            </a:r>
            <a:r>
              <a:rPr sz="2600" b="1">
                <a:solidFill>
                  <a:srgbClr val="00C9FF"/>
                </a:solidFill>
              </a:rPr>
              <a:t>Results</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Held-out NHANES 2021–23 test set — two-stage cascade</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2148840" cy="123444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36776"/>
            <a:ext cx="1965960" cy="641908"/>
          </a:xfrm>
          <a:prstGeom prst="rect">
            <a:avLst/>
          </a:prstGeom>
          <a:noFill/>
        </p:spPr>
        <p:txBody>
          <a:bodyPr wrap="square">
            <a:spAutoFit/>
          </a:bodyPr>
          <a:lstStyle/>
          <a:p>
            <a:pPr algn="ctr">
              <a:spcBef>
                <a:spcPts val="0"/>
              </a:spcBef>
              <a:spcAft>
                <a:spcPts val="100"/>
              </a:spcAft>
            </a:pPr>
            <a:r>
              <a:rPr sz="2200" b="1" i="0">
                <a:solidFill>
                  <a:srgbClr val="00C9FF"/>
                </a:solidFill>
              </a:rPr>
              <a:t>71.9%</a:t>
            </a:r>
          </a:p>
        </p:txBody>
      </p:sp>
      <p:sp>
        <p:nvSpPr>
          <p:cNvPr id="8" name="TextBox 7"/>
          <p:cNvSpPr txBox="1"/>
          <p:nvPr/>
        </p:nvSpPr>
        <p:spPr>
          <a:xfrm>
            <a:off x="457200" y="2286457"/>
            <a:ext cx="1965960" cy="407365"/>
          </a:xfrm>
          <a:prstGeom prst="rect">
            <a:avLst/>
          </a:prstGeom>
          <a:noFill/>
        </p:spPr>
        <p:txBody>
          <a:bodyPr wrap="square">
            <a:spAutoFit/>
          </a:bodyPr>
          <a:lstStyle/>
          <a:p>
            <a:pPr algn="ctr">
              <a:spcBef>
                <a:spcPts val="0"/>
              </a:spcBef>
              <a:spcAft>
                <a:spcPts val="100"/>
              </a:spcAft>
            </a:pPr>
            <a:r>
              <a:rPr sz="650" b="0" i="0">
                <a:solidFill>
                  <a:srgbClr val="8FABBE"/>
                </a:solidFill>
              </a:rPr>
              <a:t>ACCURACY</a:t>
            </a:r>
          </a:p>
        </p:txBody>
      </p:sp>
      <p:sp>
        <p:nvSpPr>
          <p:cNvPr id="9" name="Rectangle 8"/>
          <p:cNvSpPr/>
          <p:nvPr/>
        </p:nvSpPr>
        <p:spPr>
          <a:xfrm>
            <a:off x="2624328" y="1508760"/>
            <a:ext cx="2148840" cy="123444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5768" y="1636776"/>
            <a:ext cx="1965960" cy="641908"/>
          </a:xfrm>
          <a:prstGeom prst="rect">
            <a:avLst/>
          </a:prstGeom>
          <a:noFill/>
        </p:spPr>
        <p:txBody>
          <a:bodyPr wrap="square">
            <a:spAutoFit/>
          </a:bodyPr>
          <a:lstStyle/>
          <a:p>
            <a:pPr algn="ctr">
              <a:spcBef>
                <a:spcPts val="0"/>
              </a:spcBef>
              <a:spcAft>
                <a:spcPts val="100"/>
              </a:spcAft>
            </a:pPr>
            <a:r>
              <a:rPr sz="2200" b="1" i="0">
                <a:solidFill>
                  <a:srgbClr val="00C9FF"/>
                </a:solidFill>
              </a:rPr>
              <a:t>66.4%</a:t>
            </a:r>
          </a:p>
        </p:txBody>
      </p:sp>
      <p:sp>
        <p:nvSpPr>
          <p:cNvPr id="11" name="TextBox 10"/>
          <p:cNvSpPr txBox="1"/>
          <p:nvPr/>
        </p:nvSpPr>
        <p:spPr>
          <a:xfrm>
            <a:off x="2715768" y="2286457"/>
            <a:ext cx="1965960" cy="407365"/>
          </a:xfrm>
          <a:prstGeom prst="rect">
            <a:avLst/>
          </a:prstGeom>
          <a:noFill/>
        </p:spPr>
        <p:txBody>
          <a:bodyPr wrap="square">
            <a:spAutoFit/>
          </a:bodyPr>
          <a:lstStyle/>
          <a:p>
            <a:pPr algn="ctr">
              <a:spcBef>
                <a:spcPts val="0"/>
              </a:spcBef>
              <a:spcAft>
                <a:spcPts val="100"/>
              </a:spcAft>
            </a:pPr>
            <a:r>
              <a:rPr sz="650" b="0" i="0">
                <a:solidFill>
                  <a:srgbClr val="8FABBE"/>
                </a:solidFill>
              </a:rPr>
              <a:t>BALANCED ACCURACY</a:t>
            </a:r>
          </a:p>
        </p:txBody>
      </p:sp>
      <p:sp>
        <p:nvSpPr>
          <p:cNvPr id="12" name="Rectangle 11"/>
          <p:cNvSpPr/>
          <p:nvPr/>
        </p:nvSpPr>
        <p:spPr>
          <a:xfrm>
            <a:off x="4882896" y="1508760"/>
            <a:ext cx="2148840" cy="123444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74336" y="1636776"/>
            <a:ext cx="1965960" cy="641908"/>
          </a:xfrm>
          <a:prstGeom prst="rect">
            <a:avLst/>
          </a:prstGeom>
          <a:noFill/>
        </p:spPr>
        <p:txBody>
          <a:bodyPr wrap="square">
            <a:spAutoFit/>
          </a:bodyPr>
          <a:lstStyle/>
          <a:p>
            <a:pPr algn="ctr">
              <a:spcBef>
                <a:spcPts val="0"/>
              </a:spcBef>
              <a:spcAft>
                <a:spcPts val="100"/>
              </a:spcAft>
            </a:pPr>
            <a:r>
              <a:rPr sz="2200" b="1" i="0">
                <a:solidFill>
                  <a:srgbClr val="8FABBE"/>
                </a:solidFill>
              </a:rPr>
              <a:t>55.9%</a:t>
            </a:r>
          </a:p>
        </p:txBody>
      </p:sp>
      <p:sp>
        <p:nvSpPr>
          <p:cNvPr id="14" name="TextBox 13"/>
          <p:cNvSpPr txBox="1"/>
          <p:nvPr/>
        </p:nvSpPr>
        <p:spPr>
          <a:xfrm>
            <a:off x="4974336" y="2286457"/>
            <a:ext cx="1965960" cy="407365"/>
          </a:xfrm>
          <a:prstGeom prst="rect">
            <a:avLst/>
          </a:prstGeom>
          <a:noFill/>
        </p:spPr>
        <p:txBody>
          <a:bodyPr wrap="square">
            <a:spAutoFit/>
          </a:bodyPr>
          <a:lstStyle/>
          <a:p>
            <a:pPr algn="ctr">
              <a:spcBef>
                <a:spcPts val="0"/>
              </a:spcBef>
              <a:spcAft>
                <a:spcPts val="100"/>
              </a:spcAft>
            </a:pPr>
            <a:r>
              <a:rPr sz="650" b="0" i="0">
                <a:solidFill>
                  <a:srgbClr val="8FABBE"/>
                </a:solidFill>
              </a:rPr>
              <a:t>MACRO F1</a:t>
            </a:r>
          </a:p>
        </p:txBody>
      </p:sp>
      <p:sp>
        <p:nvSpPr>
          <p:cNvPr id="15" name="Rectangle 14"/>
          <p:cNvSpPr/>
          <p:nvPr/>
        </p:nvSpPr>
        <p:spPr>
          <a:xfrm>
            <a:off x="7141464" y="1508760"/>
            <a:ext cx="2148840" cy="1234440"/>
          </a:xfrm>
          <a:prstGeom prst="rect">
            <a:avLst/>
          </a:prstGeom>
          <a:solidFill>
            <a:srgbClr val="052314"/>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1636776"/>
            <a:ext cx="1965960" cy="641908"/>
          </a:xfrm>
          <a:prstGeom prst="rect">
            <a:avLst/>
          </a:prstGeom>
          <a:noFill/>
        </p:spPr>
        <p:txBody>
          <a:bodyPr wrap="square">
            <a:spAutoFit/>
          </a:bodyPr>
          <a:lstStyle/>
          <a:p>
            <a:pPr algn="ctr">
              <a:spcBef>
                <a:spcPts val="0"/>
              </a:spcBef>
              <a:spcAft>
                <a:spcPts val="100"/>
              </a:spcAft>
            </a:pPr>
            <a:r>
              <a:rPr sz="2200" b="1" i="0">
                <a:solidFill>
                  <a:srgbClr val="10B981"/>
                </a:solidFill>
              </a:rPr>
              <a:t>73.7%</a:t>
            </a:r>
          </a:p>
        </p:txBody>
      </p:sp>
      <p:sp>
        <p:nvSpPr>
          <p:cNvPr id="17" name="TextBox 16"/>
          <p:cNvSpPr txBox="1"/>
          <p:nvPr/>
        </p:nvSpPr>
        <p:spPr>
          <a:xfrm>
            <a:off x="7232904" y="2286457"/>
            <a:ext cx="1965960" cy="407365"/>
          </a:xfrm>
          <a:prstGeom prst="rect">
            <a:avLst/>
          </a:prstGeom>
          <a:noFill/>
        </p:spPr>
        <p:txBody>
          <a:bodyPr wrap="square">
            <a:spAutoFit/>
          </a:bodyPr>
          <a:lstStyle/>
          <a:p>
            <a:pPr algn="ctr">
              <a:spcBef>
                <a:spcPts val="0"/>
              </a:spcBef>
              <a:spcAft>
                <a:spcPts val="100"/>
              </a:spcAft>
            </a:pPr>
            <a:r>
              <a:rPr sz="650" b="0" i="0">
                <a:solidFill>
                  <a:srgbClr val="8FABBE"/>
                </a:solidFill>
              </a:rPr>
              <a:t>HIGH RISK RECALL</a:t>
            </a:r>
          </a:p>
        </p:txBody>
      </p:sp>
      <p:sp>
        <p:nvSpPr>
          <p:cNvPr id="18" name="Rectangle 17"/>
          <p:cNvSpPr/>
          <p:nvPr/>
        </p:nvSpPr>
        <p:spPr>
          <a:xfrm>
            <a:off x="9400032" y="1508760"/>
            <a:ext cx="2148840" cy="1234440"/>
          </a:xfrm>
          <a:prstGeom prst="rect">
            <a:avLst/>
          </a:prstGeom>
          <a:solidFill>
            <a:srgbClr val="052314"/>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91472" y="1636776"/>
            <a:ext cx="1965960" cy="641908"/>
          </a:xfrm>
          <a:prstGeom prst="rect">
            <a:avLst/>
          </a:prstGeom>
          <a:noFill/>
        </p:spPr>
        <p:txBody>
          <a:bodyPr wrap="square">
            <a:spAutoFit/>
          </a:bodyPr>
          <a:lstStyle/>
          <a:p>
            <a:pPr algn="ctr">
              <a:spcBef>
                <a:spcPts val="0"/>
              </a:spcBef>
              <a:spcAft>
                <a:spcPts val="100"/>
              </a:spcAft>
            </a:pPr>
            <a:r>
              <a:rPr sz="2200" b="1" i="0">
                <a:solidFill>
                  <a:srgbClr val="10B981"/>
                </a:solidFill>
              </a:rPr>
              <a:t>2</a:t>
            </a:r>
          </a:p>
        </p:txBody>
      </p:sp>
      <p:sp>
        <p:nvSpPr>
          <p:cNvPr id="20" name="TextBox 19"/>
          <p:cNvSpPr txBox="1"/>
          <p:nvPr/>
        </p:nvSpPr>
        <p:spPr>
          <a:xfrm>
            <a:off x="9491472" y="2286457"/>
            <a:ext cx="1965960" cy="407365"/>
          </a:xfrm>
          <a:prstGeom prst="rect">
            <a:avLst/>
          </a:prstGeom>
          <a:noFill/>
        </p:spPr>
        <p:txBody>
          <a:bodyPr wrap="square">
            <a:spAutoFit/>
          </a:bodyPr>
          <a:lstStyle/>
          <a:p>
            <a:pPr algn="ctr">
              <a:spcBef>
                <a:spcPts val="0"/>
              </a:spcBef>
              <a:spcAft>
                <a:spcPts val="100"/>
              </a:spcAft>
            </a:pPr>
            <a:r>
              <a:rPr sz="650" b="0" i="0">
                <a:solidFill>
                  <a:srgbClr val="8FABBE"/>
                </a:solidFill>
              </a:rPr>
              <a:t>HIGH→LOW MISSES</a:t>
            </a:r>
          </a:p>
        </p:txBody>
      </p:sp>
      <p:sp>
        <p:nvSpPr>
          <p:cNvPr id="21" name="Rectangle 20"/>
          <p:cNvSpPr/>
          <p:nvPr/>
        </p:nvSpPr>
        <p:spPr>
          <a:xfrm>
            <a:off x="365760" y="2926080"/>
            <a:ext cx="5349240" cy="2011680"/>
          </a:xfrm>
          <a:prstGeom prst="rect">
            <a:avLst/>
          </a:prstGeom>
          <a:solidFill>
            <a:srgbClr val="12243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017520"/>
            <a:ext cx="5120640" cy="228600"/>
          </a:xfrm>
          <a:prstGeom prst="rect">
            <a:avLst/>
          </a:prstGeom>
          <a:noFill/>
        </p:spPr>
        <p:txBody>
          <a:bodyPr wrap="square">
            <a:spAutoFit/>
          </a:bodyPr>
          <a:lstStyle/>
          <a:p>
            <a:pPr algn="l">
              <a:spcBef>
                <a:spcPts val="0"/>
              </a:spcBef>
              <a:spcAft>
                <a:spcPts val="100"/>
              </a:spcAft>
            </a:pPr>
            <a:r>
              <a:rPr sz="700" b="1" i="0">
                <a:solidFill>
                  <a:srgbClr val="00C9FF"/>
                </a:solidFill>
              </a:rPr>
              <a:t>Per-Class Recall</a:t>
            </a:r>
          </a:p>
        </p:txBody>
      </p:sp>
      <p:sp>
        <p:nvSpPr>
          <p:cNvPr id="23" name="Rectangle 22"/>
          <p:cNvSpPr/>
          <p:nvPr/>
        </p:nvSpPr>
        <p:spPr>
          <a:xfrm>
            <a:off x="475488" y="3337560"/>
            <a:ext cx="5129783" cy="384048"/>
          </a:xfrm>
          <a:prstGeom prst="rect">
            <a:avLst/>
          </a:prstGeom>
          <a:solidFill>
            <a:srgbClr val="052314"/>
          </a:solidFill>
          <a:ln w="63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3401568"/>
            <a:ext cx="5020055" cy="274320"/>
          </a:xfrm>
          <a:prstGeom prst="rect">
            <a:avLst/>
          </a:prstGeom>
          <a:noFill/>
        </p:spPr>
        <p:txBody>
          <a:bodyPr wrap="square">
            <a:spAutoFit/>
          </a:bodyPr>
          <a:lstStyle/>
          <a:p>
            <a:pPr algn="l">
              <a:spcBef>
                <a:spcPts val="0"/>
              </a:spcBef>
              <a:spcAft>
                <a:spcPts val="100"/>
              </a:spcAft>
            </a:pPr>
            <a:r>
              <a:rPr sz="850" b="0" i="0">
                <a:solidFill>
                  <a:srgbClr val="10B981"/>
                </a:solidFill>
              </a:rPr>
              <a:t>Low        75.1%   Good — most low-risk patients correctly cleared</a:t>
            </a:r>
          </a:p>
        </p:txBody>
      </p:sp>
      <p:sp>
        <p:nvSpPr>
          <p:cNvPr id="25" name="Rectangle 24"/>
          <p:cNvSpPr/>
          <p:nvPr/>
        </p:nvSpPr>
        <p:spPr>
          <a:xfrm>
            <a:off x="475488" y="3794760"/>
            <a:ext cx="5129783" cy="384048"/>
          </a:xfrm>
          <a:prstGeom prst="rect">
            <a:avLst/>
          </a:prstGeom>
          <a:solidFill>
            <a:srgbClr val="231905"/>
          </a:solidFill>
          <a:ln w="63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858768"/>
            <a:ext cx="5020055" cy="274320"/>
          </a:xfrm>
          <a:prstGeom prst="rect">
            <a:avLst/>
          </a:prstGeom>
          <a:noFill/>
        </p:spPr>
        <p:txBody>
          <a:bodyPr wrap="square">
            <a:spAutoFit/>
          </a:bodyPr>
          <a:lstStyle/>
          <a:p>
            <a:pPr algn="l">
              <a:spcBef>
                <a:spcPts val="0"/>
              </a:spcBef>
              <a:spcAft>
                <a:spcPts val="100"/>
              </a:spcAft>
            </a:pPr>
            <a:r>
              <a:rPr sz="850" b="0" i="0">
                <a:solidFill>
                  <a:srgbClr val="F59E0B"/>
                </a:solidFill>
              </a:rPr>
              <a:t>Moderate   50.5%   Hardest class — ambiguous moderate/high boundary</a:t>
            </a:r>
          </a:p>
        </p:txBody>
      </p:sp>
      <p:sp>
        <p:nvSpPr>
          <p:cNvPr id="27" name="Rectangle 26"/>
          <p:cNvSpPr/>
          <p:nvPr/>
        </p:nvSpPr>
        <p:spPr>
          <a:xfrm>
            <a:off x="475488" y="4251960"/>
            <a:ext cx="5129783" cy="384048"/>
          </a:xfrm>
          <a:prstGeom prst="rect">
            <a:avLst/>
          </a:prstGeom>
          <a:solidFill>
            <a:srgbClr val="052314"/>
          </a:solidFill>
          <a:ln w="63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315968"/>
            <a:ext cx="5020055" cy="274320"/>
          </a:xfrm>
          <a:prstGeom prst="rect">
            <a:avLst/>
          </a:prstGeom>
          <a:noFill/>
        </p:spPr>
        <p:txBody>
          <a:bodyPr wrap="square">
            <a:spAutoFit/>
          </a:bodyPr>
          <a:lstStyle/>
          <a:p>
            <a:pPr algn="l">
              <a:spcBef>
                <a:spcPts val="0"/>
              </a:spcBef>
              <a:spcAft>
                <a:spcPts val="100"/>
              </a:spcAft>
            </a:pPr>
            <a:r>
              <a:rPr sz="850" b="0" i="0">
                <a:solidFill>
                  <a:srgbClr val="10B981"/>
                </a:solidFill>
              </a:rPr>
              <a:t>High        73.7%   Strong — critical class, cascade tuned for this</a:t>
            </a:r>
          </a:p>
        </p:txBody>
      </p:sp>
      <p:sp>
        <p:nvSpPr>
          <p:cNvPr id="29" name="Rectangle 28"/>
          <p:cNvSpPr/>
          <p:nvPr/>
        </p:nvSpPr>
        <p:spPr>
          <a:xfrm>
            <a:off x="5943600" y="2926080"/>
            <a:ext cx="6062472" cy="2011680"/>
          </a:xfrm>
          <a:prstGeom prst="rect">
            <a:avLst/>
          </a:prstGeom>
          <a:solidFill>
            <a:srgbClr val="052314"/>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43600" y="2926080"/>
            <a:ext cx="50292" cy="20116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53912" y="3044952"/>
            <a:ext cx="5806440" cy="219456"/>
          </a:xfrm>
          <a:prstGeom prst="rect">
            <a:avLst/>
          </a:prstGeom>
          <a:noFill/>
        </p:spPr>
        <p:txBody>
          <a:bodyPr wrap="square">
            <a:spAutoFit/>
          </a:bodyPr>
          <a:lstStyle/>
          <a:p>
            <a:pPr algn="l">
              <a:spcBef>
                <a:spcPts val="0"/>
              </a:spcBef>
              <a:spcAft>
                <a:spcPts val="100"/>
              </a:spcAft>
            </a:pPr>
            <a:r>
              <a:rPr sz="700" b="1" i="0">
                <a:solidFill>
                  <a:srgbClr val="00C9FF"/>
                </a:solidFill>
              </a:rPr>
              <a:t>KEY SAFETY RESULT — HIGH→LOW MISSES: ONLY 2</a:t>
            </a:r>
          </a:p>
        </p:txBody>
      </p:sp>
      <p:sp>
        <p:nvSpPr>
          <p:cNvPr id="32" name="TextBox 31"/>
          <p:cNvSpPr txBox="1"/>
          <p:nvPr/>
        </p:nvSpPr>
        <p:spPr>
          <a:xfrm>
            <a:off x="6153912" y="3273552"/>
            <a:ext cx="5788152" cy="1572768"/>
          </a:xfrm>
          <a:prstGeom prst="rect">
            <a:avLst/>
          </a:prstGeom>
          <a:noFill/>
        </p:spPr>
        <p:txBody>
          <a:bodyPr wrap="square">
            <a:spAutoFit/>
          </a:bodyPr>
          <a:lstStyle/>
          <a:p>
            <a:pPr algn="l">
              <a:spcBef>
                <a:spcPts val="0"/>
              </a:spcBef>
              <a:spcAft>
                <a:spcPts val="100"/>
              </a:spcAft>
            </a:pPr>
            <a:r>
              <a:rPr sz="850" b="0" i="0">
                <a:solidFill>
                  <a:srgbClr val="8FABBE"/>
                </a:solidFill>
              </a:rPr>
              <a:t>The two-stage cascade is explicitly tuned to minimise High→Low misses — the clinically most dangerous error, where a patient needing urgent follow-up is incorrectly told they are low risk.  Only 2 such errors across the full test set.</a:t>
            </a:r>
          </a:p>
        </p:txBody>
      </p:sp>
      <p:sp>
        <p:nvSpPr>
          <p:cNvPr id="33" name="Rectangle 32"/>
          <p:cNvSpPr/>
          <p:nvPr/>
        </p:nvSpPr>
        <p:spPr>
          <a:xfrm>
            <a:off x="365760" y="5010912"/>
            <a:ext cx="5486400" cy="987552"/>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 y="5129784"/>
            <a:ext cx="5230368" cy="219456"/>
          </a:xfrm>
          <a:prstGeom prst="rect">
            <a:avLst/>
          </a:prstGeom>
          <a:noFill/>
        </p:spPr>
        <p:txBody>
          <a:bodyPr wrap="square">
            <a:spAutoFit/>
          </a:bodyPr>
          <a:lstStyle/>
          <a:p>
            <a:pPr algn="l">
              <a:spcBef>
                <a:spcPts val="0"/>
              </a:spcBef>
              <a:spcAft>
                <a:spcPts val="100"/>
              </a:spcAft>
            </a:pPr>
            <a:r>
              <a:rPr sz="700" b="1" i="0">
                <a:solidFill>
                  <a:srgbClr val="00C9FF"/>
                </a:solidFill>
              </a:rPr>
              <a:t>MODERATE CLASS NOTE</a:t>
            </a:r>
          </a:p>
        </p:txBody>
      </p:sp>
      <p:sp>
        <p:nvSpPr>
          <p:cNvPr id="35" name="TextBox 34"/>
          <p:cNvSpPr txBox="1"/>
          <p:nvPr/>
        </p:nvSpPr>
        <p:spPr>
          <a:xfrm>
            <a:off x="512064" y="5358384"/>
            <a:ext cx="5212080" cy="548640"/>
          </a:xfrm>
          <a:prstGeom prst="rect">
            <a:avLst/>
          </a:prstGeom>
          <a:noFill/>
        </p:spPr>
        <p:txBody>
          <a:bodyPr wrap="square">
            <a:spAutoFit/>
          </a:bodyPr>
          <a:lstStyle/>
          <a:p>
            <a:pPr algn="l">
              <a:spcBef>
                <a:spcPts val="0"/>
              </a:spcBef>
              <a:spcAft>
                <a:spcPts val="100"/>
              </a:spcAft>
            </a:pPr>
            <a:r>
              <a:rPr sz="850" b="0" i="0">
                <a:solidFill>
                  <a:srgbClr val="8FABBE"/>
                </a:solidFill>
              </a:rPr>
              <a:t>Moderate recall (50.5%) reflects inherent boundary ambiguity — even eGFR+UACR cannot perfectly separate moderate from high risk.</a:t>
            </a:r>
          </a:p>
        </p:txBody>
      </p:sp>
      <p:sp>
        <p:nvSpPr>
          <p:cNvPr id="36" name="Rectangle 35"/>
          <p:cNvSpPr/>
          <p:nvPr/>
        </p:nvSpPr>
        <p:spPr>
          <a:xfrm>
            <a:off x="5943600" y="5010912"/>
            <a:ext cx="6062472" cy="987552"/>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89904" y="5129784"/>
            <a:ext cx="5806440" cy="219456"/>
          </a:xfrm>
          <a:prstGeom prst="rect">
            <a:avLst/>
          </a:prstGeom>
          <a:noFill/>
        </p:spPr>
        <p:txBody>
          <a:bodyPr wrap="square">
            <a:spAutoFit/>
          </a:bodyPr>
          <a:lstStyle/>
          <a:p>
            <a:pPr algn="l">
              <a:spcBef>
                <a:spcPts val="0"/>
              </a:spcBef>
              <a:spcAft>
                <a:spcPts val="100"/>
              </a:spcAft>
            </a:pPr>
            <a:r>
              <a:rPr sz="700" b="1" i="0">
                <a:solidFill>
                  <a:srgbClr val="00C9FF"/>
                </a:solidFill>
              </a:rPr>
              <a:t>CLINICAL CONTEXT</a:t>
            </a:r>
          </a:p>
        </p:txBody>
      </p:sp>
      <p:sp>
        <p:nvSpPr>
          <p:cNvPr id="38" name="TextBox 37"/>
          <p:cNvSpPr txBox="1"/>
          <p:nvPr/>
        </p:nvSpPr>
        <p:spPr>
          <a:xfrm>
            <a:off x="6089904" y="5358384"/>
            <a:ext cx="5788152" cy="548640"/>
          </a:xfrm>
          <a:prstGeom prst="rect">
            <a:avLst/>
          </a:prstGeom>
          <a:noFill/>
        </p:spPr>
        <p:txBody>
          <a:bodyPr wrap="square">
            <a:spAutoFit/>
          </a:bodyPr>
          <a:lstStyle/>
          <a:p>
            <a:pPr algn="l">
              <a:spcBef>
                <a:spcPts val="0"/>
              </a:spcBef>
              <a:spcAft>
                <a:spcPts val="100"/>
              </a:spcAft>
            </a:pPr>
            <a:r>
              <a:rPr sz="850" b="0" i="0">
                <a:solidFill>
                  <a:srgbClr val="8FABBE"/>
                </a:solidFill>
              </a:rPr>
              <a:t>The tool is a screening aid — it triggers follow-up testing, not replaces it. False moderate-as-low is far less dangerous than false high-as-low.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LLM COMPONENT</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Education </a:t>
            </a:r>
            <a:r>
              <a:rPr sz="2600" b="1">
                <a:solidFill>
                  <a:srgbClr val="00C9FF"/>
                </a:solidFill>
              </a:rPr>
              <a:t>Pipeline</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From ML prediction to safe, personalised patient guidance</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1664208" cy="74980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581912"/>
            <a:ext cx="1517904" cy="237744"/>
          </a:xfrm>
          <a:prstGeom prst="rect">
            <a:avLst/>
          </a:prstGeom>
          <a:noFill/>
        </p:spPr>
        <p:txBody>
          <a:bodyPr wrap="square">
            <a:spAutoFit/>
          </a:bodyPr>
          <a:lstStyle/>
          <a:p>
            <a:pPr algn="l">
              <a:spcBef>
                <a:spcPts val="0"/>
              </a:spcBef>
              <a:spcAft>
                <a:spcPts val="100"/>
              </a:spcAft>
            </a:pPr>
            <a:r>
              <a:rPr sz="750" b="1" i="0">
                <a:solidFill>
                  <a:srgbClr val="00C9FF"/>
                </a:solidFill>
              </a:rPr>
              <a:t>ML Output</a:t>
            </a:r>
          </a:p>
        </p:txBody>
      </p:sp>
      <p:sp>
        <p:nvSpPr>
          <p:cNvPr id="8" name="TextBox 7"/>
          <p:cNvSpPr txBox="1"/>
          <p:nvPr/>
        </p:nvSpPr>
        <p:spPr>
          <a:xfrm>
            <a:off x="438912" y="1837943"/>
            <a:ext cx="1517904" cy="347472"/>
          </a:xfrm>
          <a:prstGeom prst="rect">
            <a:avLst/>
          </a:prstGeom>
          <a:noFill/>
        </p:spPr>
        <p:txBody>
          <a:bodyPr wrap="square">
            <a:spAutoFit/>
          </a:bodyPr>
          <a:lstStyle/>
          <a:p>
            <a:pPr algn="l">
              <a:spcBef>
                <a:spcPts val="0"/>
              </a:spcBef>
              <a:spcAft>
                <a:spcPts val="100"/>
              </a:spcAft>
            </a:pPr>
            <a:r>
              <a:rPr sz="700" b="0" i="0">
                <a:solidFill>
                  <a:srgbClr val="8FABBE"/>
                </a:solidFill>
              </a:rPr>
              <a:t>Risk class · factors · patient inputs</a:t>
            </a:r>
          </a:p>
        </p:txBody>
      </p:sp>
      <p:sp>
        <p:nvSpPr>
          <p:cNvPr id="9" name="TextBox 8"/>
          <p:cNvSpPr txBox="1"/>
          <p:nvPr/>
        </p:nvSpPr>
        <p:spPr>
          <a:xfrm>
            <a:off x="2029968" y="1709928"/>
            <a:ext cx="146304" cy="347472"/>
          </a:xfrm>
          <a:prstGeom prst="rect">
            <a:avLst/>
          </a:prstGeom>
          <a:noFill/>
        </p:spPr>
        <p:txBody>
          <a:bodyPr wrap="square">
            <a:spAutoFit/>
          </a:bodyPr>
          <a:lstStyle/>
          <a:p>
            <a:pPr algn="l">
              <a:spcBef>
                <a:spcPts val="0"/>
              </a:spcBef>
              <a:spcAft>
                <a:spcPts val="100"/>
              </a:spcAft>
            </a:pPr>
            <a:r>
              <a:rPr sz="1100" b="1" i="0">
                <a:solidFill>
                  <a:srgbClr val="00C9FF"/>
                </a:solidFill>
              </a:rPr>
              <a:t>→</a:t>
            </a:r>
          </a:p>
        </p:txBody>
      </p:sp>
      <p:sp>
        <p:nvSpPr>
          <p:cNvPr id="10" name="Rectangle 9"/>
          <p:cNvSpPr/>
          <p:nvPr/>
        </p:nvSpPr>
        <p:spPr>
          <a:xfrm>
            <a:off x="2148840" y="1508760"/>
            <a:ext cx="1664208" cy="74980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21992" y="1581912"/>
            <a:ext cx="1517904" cy="237744"/>
          </a:xfrm>
          <a:prstGeom prst="rect">
            <a:avLst/>
          </a:prstGeom>
          <a:noFill/>
        </p:spPr>
        <p:txBody>
          <a:bodyPr wrap="square">
            <a:spAutoFit/>
          </a:bodyPr>
          <a:lstStyle/>
          <a:p>
            <a:pPr algn="l">
              <a:spcBef>
                <a:spcPts val="0"/>
              </a:spcBef>
              <a:spcAft>
                <a:spcPts val="100"/>
              </a:spcAft>
            </a:pPr>
            <a:r>
              <a:rPr sz="750" b="1" i="0">
                <a:solidFill>
                  <a:srgbClr val="00C9FF"/>
                </a:solidFill>
              </a:rPr>
              <a:t>RAG Retrieval</a:t>
            </a:r>
          </a:p>
        </p:txBody>
      </p:sp>
      <p:sp>
        <p:nvSpPr>
          <p:cNvPr id="12" name="TextBox 11"/>
          <p:cNvSpPr txBox="1"/>
          <p:nvPr/>
        </p:nvSpPr>
        <p:spPr>
          <a:xfrm>
            <a:off x="2221992" y="1837943"/>
            <a:ext cx="1517904" cy="347472"/>
          </a:xfrm>
          <a:prstGeom prst="rect">
            <a:avLst/>
          </a:prstGeom>
          <a:noFill/>
        </p:spPr>
        <p:txBody>
          <a:bodyPr wrap="square">
            <a:spAutoFit/>
          </a:bodyPr>
          <a:lstStyle/>
          <a:p>
            <a:pPr algn="l">
              <a:spcBef>
                <a:spcPts val="0"/>
              </a:spcBef>
              <a:spcAft>
                <a:spcPts val="100"/>
              </a:spcAft>
            </a:pPr>
            <a:r>
              <a:rPr sz="700" b="0" i="0">
                <a:solidFill>
                  <a:srgbClr val="8FABBE"/>
                </a:solidFill>
              </a:rPr>
              <a:t>4 guideline chunks (factor-aware)</a:t>
            </a:r>
          </a:p>
        </p:txBody>
      </p:sp>
      <p:sp>
        <p:nvSpPr>
          <p:cNvPr id="13" name="TextBox 12"/>
          <p:cNvSpPr txBox="1"/>
          <p:nvPr/>
        </p:nvSpPr>
        <p:spPr>
          <a:xfrm>
            <a:off x="3813048" y="1709928"/>
            <a:ext cx="146304" cy="347472"/>
          </a:xfrm>
          <a:prstGeom prst="rect">
            <a:avLst/>
          </a:prstGeom>
          <a:noFill/>
        </p:spPr>
        <p:txBody>
          <a:bodyPr wrap="square">
            <a:spAutoFit/>
          </a:bodyPr>
          <a:lstStyle/>
          <a:p>
            <a:pPr algn="l">
              <a:spcBef>
                <a:spcPts val="0"/>
              </a:spcBef>
              <a:spcAft>
                <a:spcPts val="100"/>
              </a:spcAft>
            </a:pPr>
            <a:r>
              <a:rPr sz="1100" b="1" i="0">
                <a:solidFill>
                  <a:srgbClr val="00C9FF"/>
                </a:solidFill>
              </a:rPr>
              <a:t>→</a:t>
            </a:r>
          </a:p>
        </p:txBody>
      </p:sp>
      <p:sp>
        <p:nvSpPr>
          <p:cNvPr id="14" name="Rectangle 13"/>
          <p:cNvSpPr/>
          <p:nvPr/>
        </p:nvSpPr>
        <p:spPr>
          <a:xfrm>
            <a:off x="3931920" y="1508760"/>
            <a:ext cx="1664208" cy="74980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05072" y="1581912"/>
            <a:ext cx="1517904" cy="237744"/>
          </a:xfrm>
          <a:prstGeom prst="rect">
            <a:avLst/>
          </a:prstGeom>
          <a:noFill/>
        </p:spPr>
        <p:txBody>
          <a:bodyPr wrap="square">
            <a:spAutoFit/>
          </a:bodyPr>
          <a:lstStyle/>
          <a:p>
            <a:pPr algn="l">
              <a:spcBef>
                <a:spcPts val="0"/>
              </a:spcBef>
              <a:spcAft>
                <a:spcPts val="100"/>
              </a:spcAft>
            </a:pPr>
            <a:r>
              <a:rPr sz="750" b="1" i="0">
                <a:solidFill>
                  <a:srgbClr val="00C9FF"/>
                </a:solidFill>
              </a:rPr>
              <a:t>Prompt Builder</a:t>
            </a:r>
          </a:p>
        </p:txBody>
      </p:sp>
      <p:sp>
        <p:nvSpPr>
          <p:cNvPr id="16" name="TextBox 15"/>
          <p:cNvSpPr txBox="1"/>
          <p:nvPr/>
        </p:nvSpPr>
        <p:spPr>
          <a:xfrm>
            <a:off x="4005072" y="1837943"/>
            <a:ext cx="1517904" cy="347472"/>
          </a:xfrm>
          <a:prstGeom prst="rect">
            <a:avLst/>
          </a:prstGeom>
          <a:noFill/>
        </p:spPr>
        <p:txBody>
          <a:bodyPr wrap="square">
            <a:spAutoFit/>
          </a:bodyPr>
          <a:lstStyle/>
          <a:p>
            <a:pPr algn="l">
              <a:spcBef>
                <a:spcPts val="0"/>
              </a:spcBef>
              <a:spcAft>
                <a:spcPts val="100"/>
              </a:spcAft>
            </a:pPr>
            <a:r>
              <a:rPr sz="700" b="0" i="0">
                <a:solidFill>
                  <a:srgbClr val="8FABBE"/>
                </a:solidFill>
              </a:rPr>
              <a:t>System rules + Profile + Cues</a:t>
            </a:r>
          </a:p>
        </p:txBody>
      </p:sp>
      <p:sp>
        <p:nvSpPr>
          <p:cNvPr id="17" name="TextBox 16"/>
          <p:cNvSpPr txBox="1"/>
          <p:nvPr/>
        </p:nvSpPr>
        <p:spPr>
          <a:xfrm>
            <a:off x="5596128" y="1709928"/>
            <a:ext cx="146304" cy="347472"/>
          </a:xfrm>
          <a:prstGeom prst="rect">
            <a:avLst/>
          </a:prstGeom>
          <a:noFill/>
        </p:spPr>
        <p:txBody>
          <a:bodyPr wrap="square">
            <a:spAutoFit/>
          </a:bodyPr>
          <a:lstStyle/>
          <a:p>
            <a:pPr algn="l">
              <a:spcBef>
                <a:spcPts val="0"/>
              </a:spcBef>
              <a:spcAft>
                <a:spcPts val="100"/>
              </a:spcAft>
            </a:pPr>
            <a:r>
              <a:rPr sz="1100" b="1" i="0">
                <a:solidFill>
                  <a:srgbClr val="00C9FF"/>
                </a:solidFill>
              </a:rPr>
              <a:t>→</a:t>
            </a:r>
          </a:p>
        </p:txBody>
      </p:sp>
      <p:sp>
        <p:nvSpPr>
          <p:cNvPr id="18" name="Rectangle 17"/>
          <p:cNvSpPr/>
          <p:nvPr/>
        </p:nvSpPr>
        <p:spPr>
          <a:xfrm>
            <a:off x="5715000" y="1508760"/>
            <a:ext cx="1664208" cy="74980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88152" y="1581912"/>
            <a:ext cx="1517904" cy="237744"/>
          </a:xfrm>
          <a:prstGeom prst="rect">
            <a:avLst/>
          </a:prstGeom>
          <a:noFill/>
        </p:spPr>
        <p:txBody>
          <a:bodyPr wrap="square">
            <a:spAutoFit/>
          </a:bodyPr>
          <a:lstStyle/>
          <a:p>
            <a:pPr algn="l">
              <a:spcBef>
                <a:spcPts val="0"/>
              </a:spcBef>
              <a:spcAft>
                <a:spcPts val="100"/>
              </a:spcAft>
            </a:pPr>
            <a:r>
              <a:rPr sz="750" b="1" i="0">
                <a:solidFill>
                  <a:srgbClr val="00C9FF"/>
                </a:solidFill>
              </a:rPr>
              <a:t>LLM Generate</a:t>
            </a:r>
          </a:p>
        </p:txBody>
      </p:sp>
      <p:sp>
        <p:nvSpPr>
          <p:cNvPr id="20" name="TextBox 19"/>
          <p:cNvSpPr txBox="1"/>
          <p:nvPr/>
        </p:nvSpPr>
        <p:spPr>
          <a:xfrm>
            <a:off x="5788152" y="1837943"/>
            <a:ext cx="1517904" cy="347472"/>
          </a:xfrm>
          <a:prstGeom prst="rect">
            <a:avLst/>
          </a:prstGeom>
          <a:noFill/>
        </p:spPr>
        <p:txBody>
          <a:bodyPr wrap="square">
            <a:spAutoFit/>
          </a:bodyPr>
          <a:lstStyle/>
          <a:p>
            <a:pPr algn="l">
              <a:spcBef>
                <a:spcPts val="0"/>
              </a:spcBef>
              <a:spcAft>
                <a:spcPts val="100"/>
              </a:spcAft>
            </a:pPr>
            <a:r>
              <a:rPr sz="700" b="0" i="0">
                <a:solidFill>
                  <a:srgbClr val="8FABBE"/>
                </a:solidFill>
              </a:rPr>
              <a:t>Qwen3-4B  via  Ollama</a:t>
            </a:r>
          </a:p>
        </p:txBody>
      </p:sp>
      <p:sp>
        <p:nvSpPr>
          <p:cNvPr id="21" name="TextBox 20"/>
          <p:cNvSpPr txBox="1"/>
          <p:nvPr/>
        </p:nvSpPr>
        <p:spPr>
          <a:xfrm>
            <a:off x="7379208" y="1709928"/>
            <a:ext cx="146304" cy="347472"/>
          </a:xfrm>
          <a:prstGeom prst="rect">
            <a:avLst/>
          </a:prstGeom>
          <a:noFill/>
        </p:spPr>
        <p:txBody>
          <a:bodyPr wrap="square">
            <a:spAutoFit/>
          </a:bodyPr>
          <a:lstStyle/>
          <a:p>
            <a:pPr algn="l">
              <a:spcBef>
                <a:spcPts val="0"/>
              </a:spcBef>
              <a:spcAft>
                <a:spcPts val="100"/>
              </a:spcAft>
            </a:pPr>
            <a:r>
              <a:rPr sz="1100" b="1" i="0">
                <a:solidFill>
                  <a:srgbClr val="00C9FF"/>
                </a:solidFill>
              </a:rPr>
              <a:t>→</a:t>
            </a:r>
          </a:p>
        </p:txBody>
      </p:sp>
      <p:sp>
        <p:nvSpPr>
          <p:cNvPr id="22" name="Rectangle 21"/>
          <p:cNvSpPr/>
          <p:nvPr/>
        </p:nvSpPr>
        <p:spPr>
          <a:xfrm>
            <a:off x="7498080" y="1508760"/>
            <a:ext cx="1664208" cy="74980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71232" y="1581912"/>
            <a:ext cx="1517904" cy="237744"/>
          </a:xfrm>
          <a:prstGeom prst="rect">
            <a:avLst/>
          </a:prstGeom>
          <a:noFill/>
        </p:spPr>
        <p:txBody>
          <a:bodyPr wrap="square">
            <a:spAutoFit/>
          </a:bodyPr>
          <a:lstStyle/>
          <a:p>
            <a:pPr algn="l">
              <a:spcBef>
                <a:spcPts val="0"/>
              </a:spcBef>
              <a:spcAft>
                <a:spcPts val="100"/>
              </a:spcAft>
            </a:pPr>
            <a:r>
              <a:rPr sz="750" b="1" i="0">
                <a:solidFill>
                  <a:srgbClr val="00C9FF"/>
                </a:solidFill>
              </a:rPr>
              <a:t>Safety Validator</a:t>
            </a:r>
          </a:p>
        </p:txBody>
      </p:sp>
      <p:sp>
        <p:nvSpPr>
          <p:cNvPr id="24" name="TextBox 23"/>
          <p:cNvSpPr txBox="1"/>
          <p:nvPr/>
        </p:nvSpPr>
        <p:spPr>
          <a:xfrm>
            <a:off x="7571232" y="1837943"/>
            <a:ext cx="1517904" cy="347472"/>
          </a:xfrm>
          <a:prstGeom prst="rect">
            <a:avLst/>
          </a:prstGeom>
          <a:noFill/>
        </p:spPr>
        <p:txBody>
          <a:bodyPr wrap="square">
            <a:spAutoFit/>
          </a:bodyPr>
          <a:lstStyle/>
          <a:p>
            <a:pPr algn="l">
              <a:spcBef>
                <a:spcPts val="0"/>
              </a:spcBef>
              <a:spcAft>
                <a:spcPts val="100"/>
              </a:spcAft>
            </a:pPr>
            <a:r>
              <a:rPr sz="700" b="0" i="0">
                <a:solidFill>
                  <a:srgbClr val="8FABBE"/>
                </a:solidFill>
              </a:rPr>
              <a:t>7-layer rule engine</a:t>
            </a:r>
          </a:p>
        </p:txBody>
      </p:sp>
      <p:sp>
        <p:nvSpPr>
          <p:cNvPr id="25" name="TextBox 24"/>
          <p:cNvSpPr txBox="1"/>
          <p:nvPr/>
        </p:nvSpPr>
        <p:spPr>
          <a:xfrm>
            <a:off x="9162288" y="1709928"/>
            <a:ext cx="146304" cy="347472"/>
          </a:xfrm>
          <a:prstGeom prst="rect">
            <a:avLst/>
          </a:prstGeom>
          <a:noFill/>
        </p:spPr>
        <p:txBody>
          <a:bodyPr wrap="square">
            <a:spAutoFit/>
          </a:bodyPr>
          <a:lstStyle/>
          <a:p>
            <a:pPr algn="l">
              <a:spcBef>
                <a:spcPts val="0"/>
              </a:spcBef>
              <a:spcAft>
                <a:spcPts val="100"/>
              </a:spcAft>
            </a:pPr>
            <a:r>
              <a:rPr sz="1100" b="1" i="0">
                <a:solidFill>
                  <a:srgbClr val="00C9FF"/>
                </a:solidFill>
              </a:rPr>
              <a:t>→</a:t>
            </a:r>
          </a:p>
        </p:txBody>
      </p:sp>
      <p:sp>
        <p:nvSpPr>
          <p:cNvPr id="26" name="Rectangle 25"/>
          <p:cNvSpPr/>
          <p:nvPr/>
        </p:nvSpPr>
        <p:spPr>
          <a:xfrm>
            <a:off x="9281160" y="1508760"/>
            <a:ext cx="1664208" cy="749808"/>
          </a:xfrm>
          <a:prstGeom prst="rect">
            <a:avLst/>
          </a:prstGeom>
          <a:solidFill>
            <a:srgbClr val="00233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54312" y="1581912"/>
            <a:ext cx="1517904" cy="237744"/>
          </a:xfrm>
          <a:prstGeom prst="rect">
            <a:avLst/>
          </a:prstGeom>
          <a:noFill/>
        </p:spPr>
        <p:txBody>
          <a:bodyPr wrap="square">
            <a:spAutoFit/>
          </a:bodyPr>
          <a:lstStyle/>
          <a:p>
            <a:pPr algn="l">
              <a:spcBef>
                <a:spcPts val="0"/>
              </a:spcBef>
              <a:spcAft>
                <a:spcPts val="100"/>
              </a:spcAft>
            </a:pPr>
            <a:r>
              <a:rPr sz="750" b="1" i="0">
                <a:solidFill>
                  <a:srgbClr val="10B981"/>
                </a:solidFill>
              </a:rPr>
              <a:t>Patient Output</a:t>
            </a:r>
          </a:p>
        </p:txBody>
      </p:sp>
      <p:sp>
        <p:nvSpPr>
          <p:cNvPr id="28" name="TextBox 27"/>
          <p:cNvSpPr txBox="1"/>
          <p:nvPr/>
        </p:nvSpPr>
        <p:spPr>
          <a:xfrm>
            <a:off x="9354312" y="1837943"/>
            <a:ext cx="1517904" cy="347472"/>
          </a:xfrm>
          <a:prstGeom prst="rect">
            <a:avLst/>
          </a:prstGeom>
          <a:noFill/>
        </p:spPr>
        <p:txBody>
          <a:bodyPr wrap="square">
            <a:spAutoFit/>
          </a:bodyPr>
          <a:lstStyle/>
          <a:p>
            <a:pPr algn="l">
              <a:spcBef>
                <a:spcPts val="0"/>
              </a:spcBef>
              <a:spcAft>
                <a:spcPts val="100"/>
              </a:spcAft>
            </a:pPr>
            <a:r>
              <a:rPr sz="700" b="0" i="0">
                <a:solidFill>
                  <a:srgbClr val="8FABBE"/>
                </a:solidFill>
              </a:rPr>
              <a:t>5-section  education</a:t>
            </a:r>
          </a:p>
        </p:txBody>
      </p:sp>
      <p:sp>
        <p:nvSpPr>
          <p:cNvPr id="29" name="Rectangle 28"/>
          <p:cNvSpPr/>
          <p:nvPr/>
        </p:nvSpPr>
        <p:spPr>
          <a:xfrm>
            <a:off x="365760" y="2423160"/>
            <a:ext cx="5303520" cy="365760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064" y="2542032"/>
            <a:ext cx="5047488" cy="219456"/>
          </a:xfrm>
          <a:prstGeom prst="rect">
            <a:avLst/>
          </a:prstGeom>
          <a:noFill/>
        </p:spPr>
        <p:txBody>
          <a:bodyPr wrap="square">
            <a:spAutoFit/>
          </a:bodyPr>
          <a:lstStyle/>
          <a:p>
            <a:pPr algn="l">
              <a:spcBef>
                <a:spcPts val="0"/>
              </a:spcBef>
              <a:spcAft>
                <a:spcPts val="100"/>
              </a:spcAft>
            </a:pPr>
            <a:r>
              <a:rPr sz="700" b="1" i="0">
                <a:solidFill>
                  <a:srgbClr val="00C9FF"/>
                </a:solidFill>
              </a:rPr>
              <a:t>OUTPUT SECTIONS (5)</a:t>
            </a:r>
          </a:p>
        </p:txBody>
      </p:sp>
      <p:sp>
        <p:nvSpPr>
          <p:cNvPr id="31" name="TextBox 30"/>
          <p:cNvSpPr txBox="1"/>
          <p:nvPr/>
        </p:nvSpPr>
        <p:spPr>
          <a:xfrm>
            <a:off x="512064" y="2770632"/>
            <a:ext cx="5029200" cy="3218688"/>
          </a:xfrm>
          <a:prstGeom prst="rect">
            <a:avLst/>
          </a:prstGeom>
          <a:noFill/>
        </p:spPr>
        <p:txBody>
          <a:bodyPr wrap="square">
            <a:spAutoFit/>
          </a:bodyPr>
          <a:lstStyle/>
          <a:p>
            <a:pPr algn="l">
              <a:spcBef>
                <a:spcPts val="0"/>
              </a:spcBef>
              <a:spcAft>
                <a:spcPts val="100"/>
              </a:spcAft>
            </a:pPr>
            <a:r>
              <a:rPr sz="850" b="0" i="0">
                <a:solidFill>
                  <a:srgbClr val="8FABBE"/>
                </a:solidFill>
              </a:rPr>
              <a:t>Summary  —  risk level + top contributing factors</a:t>
            </a:r>
          </a:p>
          <a:p>
            <a:pPr algn="l">
              <a:spcBef>
                <a:spcPts val="0"/>
              </a:spcBef>
              <a:spcAft>
                <a:spcPts val="100"/>
              </a:spcAft>
            </a:pPr>
            <a:r>
              <a:rPr sz="850" b="0" i="0">
                <a:solidFill>
                  <a:srgbClr val="8FABBE"/>
                </a:solidFill>
              </a:rPr>
              <a:t>Food habits  —  diet tailored to patient conditions</a:t>
            </a:r>
          </a:p>
          <a:p>
            <a:pPr algn="l">
              <a:spcBef>
                <a:spcPts val="0"/>
              </a:spcBef>
              <a:spcAft>
                <a:spcPts val="100"/>
              </a:spcAft>
            </a:pPr>
            <a:r>
              <a:rPr sz="850" b="0" i="0">
                <a:solidFill>
                  <a:srgbClr val="8FABBE"/>
                </a:solidFill>
              </a:rPr>
              <a:t>Rest &amp; sleep  —  sleep hygiene, recovery habits</a:t>
            </a:r>
          </a:p>
          <a:p>
            <a:pPr algn="l">
              <a:spcBef>
                <a:spcPts val="0"/>
              </a:spcBef>
              <a:spcAft>
                <a:spcPts val="100"/>
              </a:spcAft>
            </a:pPr>
            <a:r>
              <a:rPr sz="850" b="0" i="0">
                <a:solidFill>
                  <a:srgbClr val="8FABBE"/>
                </a:solidFill>
              </a:rPr>
              <a:t>Daily routine  —  activity, hydration, monitoring</a:t>
            </a:r>
          </a:p>
          <a:p>
            <a:pPr algn="l">
              <a:spcBef>
                <a:spcPts val="0"/>
              </a:spcBef>
              <a:spcAft>
                <a:spcPts val="100"/>
              </a:spcAft>
            </a:pPr>
            <a:r>
              <a:rPr sz="850" b="0" i="0">
                <a:solidFill>
                  <a:srgbClr val="8FABBE"/>
                </a:solidFill>
              </a:rPr>
              <a:t>Follow-up reminder  —  clinician/lab visit guidance</a:t>
            </a:r>
          </a:p>
          <a:p>
            <a:pPr algn="l">
              <a:spcBef>
                <a:spcPts val="0"/>
              </a:spcBef>
              <a:spcAft>
                <a:spcPts val="100"/>
              </a:spcAft>
            </a:pPr>
            <a:r>
              <a:rPr sz="850" b="0" i="0">
                <a:solidFill>
                  <a:srgbClr val="8FABBE"/>
                </a:solidFill>
              </a:rPr>
              <a:t/>
            </a:r>
          </a:p>
          <a:p>
            <a:pPr algn="l">
              <a:spcBef>
                <a:spcPts val="0"/>
              </a:spcBef>
              <a:spcAft>
                <a:spcPts val="100"/>
              </a:spcAft>
            </a:pPr>
            <a:r>
              <a:rPr sz="850" b="0" i="0">
                <a:solidFill>
                  <a:srgbClr val="8FABBE"/>
                </a:solidFill>
              </a:rPr>
              <a:t>All 5 sections mandatory.  Structural check enforces completeness.</a:t>
            </a:r>
          </a:p>
          <a:p>
            <a:pPr algn="l">
              <a:spcBef>
                <a:spcPts val="0"/>
              </a:spcBef>
              <a:spcAft>
                <a:spcPts val="100"/>
              </a:spcAft>
            </a:pPr>
            <a:r>
              <a:rPr sz="850" b="0" i="0">
                <a:solidFill>
                  <a:srgbClr val="8FABBE"/>
                </a:solidFill>
              </a:rPr>
              <a:t>Readability target: Flesch-Kincaid Grade ≤ 8.</a:t>
            </a:r>
          </a:p>
        </p:txBody>
      </p:sp>
      <p:sp>
        <p:nvSpPr>
          <p:cNvPr id="32" name="Rectangle 31"/>
          <p:cNvSpPr/>
          <p:nvPr/>
        </p:nvSpPr>
        <p:spPr>
          <a:xfrm>
            <a:off x="5852160" y="2423160"/>
            <a:ext cx="6153912" cy="3657600"/>
          </a:xfrm>
          <a:prstGeom prst="rect">
            <a:avLst/>
          </a:prstGeom>
          <a:solidFill>
            <a:srgbClr val="120A2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0" y="2423160"/>
            <a:ext cx="50292" cy="36576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62472" y="2542032"/>
            <a:ext cx="5897880" cy="219456"/>
          </a:xfrm>
          <a:prstGeom prst="rect">
            <a:avLst/>
          </a:prstGeom>
          <a:noFill/>
        </p:spPr>
        <p:txBody>
          <a:bodyPr wrap="square">
            <a:spAutoFit/>
          </a:bodyPr>
          <a:lstStyle/>
          <a:p>
            <a:pPr algn="l">
              <a:spcBef>
                <a:spcPts val="0"/>
              </a:spcBef>
              <a:spcAft>
                <a:spcPts val="100"/>
              </a:spcAft>
            </a:pPr>
            <a:r>
              <a:rPr sz="700" b="1" i="0">
                <a:solidFill>
                  <a:srgbClr val="00C9FF"/>
                </a:solidFill>
              </a:rPr>
              <a:t>3-LAYER PERSONALISATION ARCHITECTURE</a:t>
            </a:r>
          </a:p>
        </p:txBody>
      </p:sp>
      <p:sp>
        <p:nvSpPr>
          <p:cNvPr id="35" name="TextBox 34"/>
          <p:cNvSpPr txBox="1"/>
          <p:nvPr/>
        </p:nvSpPr>
        <p:spPr>
          <a:xfrm>
            <a:off x="6062472" y="2770632"/>
            <a:ext cx="5879592" cy="3218688"/>
          </a:xfrm>
          <a:prstGeom prst="rect">
            <a:avLst/>
          </a:prstGeom>
          <a:noFill/>
        </p:spPr>
        <p:txBody>
          <a:bodyPr wrap="square">
            <a:spAutoFit/>
          </a:bodyPr>
          <a:lstStyle/>
          <a:p>
            <a:pPr algn="l">
              <a:spcBef>
                <a:spcPts val="0"/>
              </a:spcBef>
              <a:spcAft>
                <a:spcPts val="100"/>
              </a:spcAft>
            </a:pPr>
            <a:r>
              <a:rPr sz="850" b="0" i="0">
                <a:solidFill>
                  <a:srgbClr val="8FABBE"/>
                </a:solidFill>
              </a:rPr>
              <a:t>1.  PATIENT PROFILE block — all 22 actual patient values injected into the prompt (age, SBP, HbA1c, diabetes flag, BMI, etc.).</a:t>
            </a:r>
          </a:p>
          <a:p>
            <a:pPr algn="l">
              <a:spcBef>
                <a:spcPts val="0"/>
              </a:spcBef>
              <a:spcAft>
                <a:spcPts val="100"/>
              </a:spcAft>
            </a:pPr>
            <a:r>
              <a:rPr sz="850" b="0" i="0">
                <a:solidFill>
                  <a:srgbClr val="8FABBE"/>
                </a:solidFill>
              </a:rPr>
              <a:t/>
            </a:r>
          </a:p>
          <a:p>
            <a:pPr algn="l">
              <a:spcBef>
                <a:spcPts val="0"/>
              </a:spcBef>
              <a:spcAft>
                <a:spcPts val="100"/>
              </a:spcAft>
            </a:pPr>
            <a:r>
              <a:rPr sz="850" b="0" i="0">
                <a:solidFill>
                  <a:srgbClr val="8FABBE"/>
                </a:solidFill>
              </a:rPr>
              <a:t>2.  Factor-aware RAG — different patients get different guideline chunks based on their top ML-explanation risk drivers (e.g. hypertension patient → BP chunks; diabetic patient → diabetes chunks).</a:t>
            </a:r>
          </a:p>
          <a:p>
            <a:pPr algn="l">
              <a:spcBef>
                <a:spcPts val="0"/>
              </a:spcBef>
              <a:spcAft>
                <a:spcPts val="100"/>
              </a:spcAft>
            </a:pPr>
            <a:r>
              <a:rPr sz="850" b="0" i="0">
                <a:solidFill>
                  <a:srgbClr val="8FABBE"/>
                </a:solidFill>
              </a:rPr>
              <a:t/>
            </a:r>
          </a:p>
          <a:p>
            <a:pPr algn="l">
              <a:spcBef>
                <a:spcPts val="0"/>
              </a:spcBef>
              <a:spcAft>
                <a:spcPts val="100"/>
              </a:spcAft>
            </a:pPr>
            <a:r>
              <a:rPr sz="850" b="0" i="0">
                <a:solidFill>
                  <a:srgbClr val="8FABBE"/>
                </a:solidFill>
              </a:rPr>
              <a:t>3.  Per-section PERSONALISATION REQUIREMENTS — explicit condition-derived instructions per output section computed from patient profile (e.g. 'For Food habits: address high blood sugar because HbA1c = 8.5%').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RAG KNOWLEDGE BASE</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Clinical </a:t>
            </a:r>
            <a:r>
              <a:rPr sz="2600" b="1">
                <a:solidFill>
                  <a:srgbClr val="00C9FF"/>
                </a:solidFill>
              </a:rPr>
              <a:t>Guidelines</a:t>
            </a:r>
            <a:r>
              <a:rPr sz="2600" b="1">
                <a:solidFill>
                  <a:srgbClr val="FFFFFF"/>
                </a:solidFill>
              </a:rPr>
              <a:t> Grounding</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118 chunks from 9 authoritative sources — content-level safety scoping</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11457432" cy="310896"/>
          </a:xfrm>
          <a:prstGeom prst="rect">
            <a:avLst/>
          </a:prstGeom>
          <a:solidFill>
            <a:srgbClr val="001E37"/>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536192"/>
            <a:ext cx="4297680" cy="237744"/>
          </a:xfrm>
          <a:prstGeom prst="rect">
            <a:avLst/>
          </a:prstGeom>
          <a:noFill/>
        </p:spPr>
        <p:txBody>
          <a:bodyPr wrap="square">
            <a:spAutoFit/>
          </a:bodyPr>
          <a:lstStyle/>
          <a:p>
            <a:pPr algn="l">
              <a:spcBef>
                <a:spcPts val="0"/>
              </a:spcBef>
              <a:spcAft>
                <a:spcPts val="100"/>
              </a:spcAft>
            </a:pPr>
            <a:r>
              <a:rPr sz="700" b="1" i="0">
                <a:solidFill>
                  <a:srgbClr val="00C9FF"/>
                </a:solidFill>
              </a:rPr>
              <a:t>Source</a:t>
            </a:r>
          </a:p>
        </p:txBody>
      </p:sp>
      <p:sp>
        <p:nvSpPr>
          <p:cNvPr id="8" name="TextBox 7"/>
          <p:cNvSpPr txBox="1"/>
          <p:nvPr/>
        </p:nvSpPr>
        <p:spPr>
          <a:xfrm>
            <a:off x="4919472" y="1536192"/>
            <a:ext cx="1737360" cy="237744"/>
          </a:xfrm>
          <a:prstGeom prst="rect">
            <a:avLst/>
          </a:prstGeom>
          <a:noFill/>
        </p:spPr>
        <p:txBody>
          <a:bodyPr wrap="square">
            <a:spAutoFit/>
          </a:bodyPr>
          <a:lstStyle/>
          <a:p>
            <a:pPr algn="l">
              <a:spcBef>
                <a:spcPts val="0"/>
              </a:spcBef>
              <a:spcAft>
                <a:spcPts val="100"/>
              </a:spcAft>
            </a:pPr>
            <a:r>
              <a:rPr sz="700" b="1" i="0">
                <a:solidFill>
                  <a:srgbClr val="00C9FF"/>
                </a:solidFill>
              </a:rPr>
              <a:t>Organisation</a:t>
            </a:r>
          </a:p>
        </p:txBody>
      </p:sp>
      <p:sp>
        <p:nvSpPr>
          <p:cNvPr id="9" name="TextBox 8"/>
          <p:cNvSpPr txBox="1"/>
          <p:nvPr/>
        </p:nvSpPr>
        <p:spPr>
          <a:xfrm>
            <a:off x="6839712" y="1536192"/>
            <a:ext cx="640080" cy="237744"/>
          </a:xfrm>
          <a:prstGeom prst="rect">
            <a:avLst/>
          </a:prstGeom>
          <a:noFill/>
        </p:spPr>
        <p:txBody>
          <a:bodyPr wrap="square">
            <a:spAutoFit/>
          </a:bodyPr>
          <a:lstStyle/>
          <a:p>
            <a:pPr algn="l">
              <a:spcBef>
                <a:spcPts val="0"/>
              </a:spcBef>
              <a:spcAft>
                <a:spcPts val="100"/>
              </a:spcAft>
            </a:pPr>
            <a:r>
              <a:rPr sz="700" b="1" i="0">
                <a:solidFill>
                  <a:srgbClr val="00C9FF"/>
                </a:solidFill>
              </a:rPr>
              <a:t>Year</a:t>
            </a:r>
          </a:p>
        </p:txBody>
      </p:sp>
      <p:sp>
        <p:nvSpPr>
          <p:cNvPr id="10" name="TextBox 9"/>
          <p:cNvSpPr txBox="1"/>
          <p:nvPr/>
        </p:nvSpPr>
        <p:spPr>
          <a:xfrm>
            <a:off x="7662672" y="1536192"/>
            <a:ext cx="3840480" cy="237744"/>
          </a:xfrm>
          <a:prstGeom prst="rect">
            <a:avLst/>
          </a:prstGeom>
          <a:noFill/>
        </p:spPr>
        <p:txBody>
          <a:bodyPr wrap="square">
            <a:spAutoFit/>
          </a:bodyPr>
          <a:lstStyle/>
          <a:p>
            <a:pPr algn="l">
              <a:spcBef>
                <a:spcPts val="0"/>
              </a:spcBef>
              <a:spcAft>
                <a:spcPts val="100"/>
              </a:spcAft>
            </a:pPr>
            <a:r>
              <a:rPr sz="700" b="1" i="0">
                <a:solidFill>
                  <a:srgbClr val="00C9FF"/>
                </a:solidFill>
              </a:rPr>
              <a:t>Topics</a:t>
            </a:r>
          </a:p>
        </p:txBody>
      </p:sp>
      <p:sp>
        <p:nvSpPr>
          <p:cNvPr id="11" name="Rectangle 10"/>
          <p:cNvSpPr/>
          <p:nvPr/>
        </p:nvSpPr>
        <p:spPr>
          <a:xfrm>
            <a:off x="365760" y="1874519"/>
            <a:ext cx="11457432" cy="457200"/>
          </a:xfrm>
          <a:prstGeom prst="rect">
            <a:avLst/>
          </a:prstGeom>
          <a:solidFill>
            <a:srgbClr val="0A162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965960"/>
            <a:ext cx="4297680" cy="274320"/>
          </a:xfrm>
          <a:prstGeom prst="rect">
            <a:avLst/>
          </a:prstGeom>
          <a:noFill/>
        </p:spPr>
        <p:txBody>
          <a:bodyPr wrap="square">
            <a:spAutoFit/>
          </a:bodyPr>
          <a:lstStyle/>
          <a:p>
            <a:pPr algn="l">
              <a:spcBef>
                <a:spcPts val="0"/>
              </a:spcBef>
              <a:spcAft>
                <a:spcPts val="100"/>
              </a:spcAft>
            </a:pPr>
            <a:r>
              <a:rPr sz="850" b="0" i="0">
                <a:solidFill>
                  <a:srgbClr val="FFFFFF"/>
                </a:solidFill>
              </a:rPr>
              <a:t>KDIGO CKD Guideline</a:t>
            </a:r>
          </a:p>
        </p:txBody>
      </p:sp>
      <p:sp>
        <p:nvSpPr>
          <p:cNvPr id="13" name="TextBox 12"/>
          <p:cNvSpPr txBox="1"/>
          <p:nvPr/>
        </p:nvSpPr>
        <p:spPr>
          <a:xfrm>
            <a:off x="4919472" y="1965960"/>
            <a:ext cx="1737360" cy="274320"/>
          </a:xfrm>
          <a:prstGeom prst="rect">
            <a:avLst/>
          </a:prstGeom>
          <a:noFill/>
        </p:spPr>
        <p:txBody>
          <a:bodyPr wrap="square">
            <a:spAutoFit/>
          </a:bodyPr>
          <a:lstStyle/>
          <a:p>
            <a:pPr algn="l">
              <a:spcBef>
                <a:spcPts val="0"/>
              </a:spcBef>
              <a:spcAft>
                <a:spcPts val="100"/>
              </a:spcAft>
            </a:pPr>
            <a:r>
              <a:rPr sz="850" b="0" i="0">
                <a:solidFill>
                  <a:srgbClr val="00C9FF"/>
                </a:solidFill>
              </a:rPr>
              <a:t>KDIGO</a:t>
            </a:r>
          </a:p>
        </p:txBody>
      </p:sp>
      <p:sp>
        <p:nvSpPr>
          <p:cNvPr id="14" name="TextBox 13"/>
          <p:cNvSpPr txBox="1"/>
          <p:nvPr/>
        </p:nvSpPr>
        <p:spPr>
          <a:xfrm>
            <a:off x="6839712" y="1965960"/>
            <a:ext cx="640080" cy="274320"/>
          </a:xfrm>
          <a:prstGeom prst="rect">
            <a:avLst/>
          </a:prstGeom>
          <a:noFill/>
        </p:spPr>
        <p:txBody>
          <a:bodyPr wrap="square">
            <a:spAutoFit/>
          </a:bodyPr>
          <a:lstStyle/>
          <a:p>
            <a:pPr algn="l">
              <a:spcBef>
                <a:spcPts val="0"/>
              </a:spcBef>
              <a:spcAft>
                <a:spcPts val="100"/>
              </a:spcAft>
            </a:pPr>
            <a:r>
              <a:rPr sz="850" b="0" i="0">
                <a:solidFill>
                  <a:srgbClr val="8FABBE"/>
                </a:solidFill>
              </a:rPr>
              <a:t>2024</a:t>
            </a:r>
          </a:p>
        </p:txBody>
      </p:sp>
      <p:sp>
        <p:nvSpPr>
          <p:cNvPr id="15" name="TextBox 14"/>
          <p:cNvSpPr txBox="1"/>
          <p:nvPr/>
        </p:nvSpPr>
        <p:spPr>
          <a:xfrm>
            <a:off x="7662672" y="1965960"/>
            <a:ext cx="3840480" cy="274320"/>
          </a:xfrm>
          <a:prstGeom prst="rect">
            <a:avLst/>
          </a:prstGeom>
          <a:noFill/>
        </p:spPr>
        <p:txBody>
          <a:bodyPr wrap="square">
            <a:spAutoFit/>
          </a:bodyPr>
          <a:lstStyle/>
          <a:p>
            <a:pPr algn="l">
              <a:spcBef>
                <a:spcPts val="0"/>
              </a:spcBef>
              <a:spcAft>
                <a:spcPts val="100"/>
              </a:spcAft>
            </a:pPr>
            <a:r>
              <a:rPr sz="800" b="0" i="0">
                <a:solidFill>
                  <a:srgbClr val="8FABBE"/>
                </a:solidFill>
              </a:rPr>
              <a:t>bp · nutrition · activity · weight · smoking</a:t>
            </a:r>
          </a:p>
        </p:txBody>
      </p:sp>
      <p:sp>
        <p:nvSpPr>
          <p:cNvPr id="16" name="Rectangle 15"/>
          <p:cNvSpPr/>
          <p:nvPr/>
        </p:nvSpPr>
        <p:spPr>
          <a:xfrm>
            <a:off x="365760" y="2386584"/>
            <a:ext cx="11457432" cy="45720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2478024"/>
            <a:ext cx="4297680" cy="274320"/>
          </a:xfrm>
          <a:prstGeom prst="rect">
            <a:avLst/>
          </a:prstGeom>
          <a:noFill/>
        </p:spPr>
        <p:txBody>
          <a:bodyPr wrap="square">
            <a:spAutoFit/>
          </a:bodyPr>
          <a:lstStyle/>
          <a:p>
            <a:pPr algn="l">
              <a:spcBef>
                <a:spcPts val="0"/>
              </a:spcBef>
              <a:spcAft>
                <a:spcPts val="100"/>
              </a:spcAft>
            </a:pPr>
            <a:r>
              <a:rPr sz="850" b="0" i="0">
                <a:solidFill>
                  <a:srgbClr val="FFFFFF"/>
                </a:solidFill>
              </a:rPr>
              <a:t>KDIGO Blood Pressure in CKD</a:t>
            </a:r>
          </a:p>
        </p:txBody>
      </p:sp>
      <p:sp>
        <p:nvSpPr>
          <p:cNvPr id="18" name="TextBox 17"/>
          <p:cNvSpPr txBox="1"/>
          <p:nvPr/>
        </p:nvSpPr>
        <p:spPr>
          <a:xfrm>
            <a:off x="4919472" y="2478024"/>
            <a:ext cx="1737360" cy="274320"/>
          </a:xfrm>
          <a:prstGeom prst="rect">
            <a:avLst/>
          </a:prstGeom>
          <a:noFill/>
        </p:spPr>
        <p:txBody>
          <a:bodyPr wrap="square">
            <a:spAutoFit/>
          </a:bodyPr>
          <a:lstStyle/>
          <a:p>
            <a:pPr algn="l">
              <a:spcBef>
                <a:spcPts val="0"/>
              </a:spcBef>
              <a:spcAft>
                <a:spcPts val="100"/>
              </a:spcAft>
            </a:pPr>
            <a:r>
              <a:rPr sz="850" b="0" i="0">
                <a:solidFill>
                  <a:srgbClr val="00C9FF"/>
                </a:solidFill>
              </a:rPr>
              <a:t>KDIGO</a:t>
            </a:r>
          </a:p>
        </p:txBody>
      </p:sp>
      <p:sp>
        <p:nvSpPr>
          <p:cNvPr id="19" name="TextBox 18"/>
          <p:cNvSpPr txBox="1"/>
          <p:nvPr/>
        </p:nvSpPr>
        <p:spPr>
          <a:xfrm>
            <a:off x="6839712" y="2478024"/>
            <a:ext cx="640080" cy="274320"/>
          </a:xfrm>
          <a:prstGeom prst="rect">
            <a:avLst/>
          </a:prstGeom>
          <a:noFill/>
        </p:spPr>
        <p:txBody>
          <a:bodyPr wrap="square">
            <a:spAutoFit/>
          </a:bodyPr>
          <a:lstStyle/>
          <a:p>
            <a:pPr algn="l">
              <a:spcBef>
                <a:spcPts val="0"/>
              </a:spcBef>
              <a:spcAft>
                <a:spcPts val="100"/>
              </a:spcAft>
            </a:pPr>
            <a:r>
              <a:rPr sz="850" b="0" i="0">
                <a:solidFill>
                  <a:srgbClr val="8FABBE"/>
                </a:solidFill>
              </a:rPr>
              <a:t>2021</a:t>
            </a:r>
          </a:p>
        </p:txBody>
      </p:sp>
      <p:sp>
        <p:nvSpPr>
          <p:cNvPr id="20" name="TextBox 19"/>
          <p:cNvSpPr txBox="1"/>
          <p:nvPr/>
        </p:nvSpPr>
        <p:spPr>
          <a:xfrm>
            <a:off x="7662672" y="2478024"/>
            <a:ext cx="3840480" cy="274320"/>
          </a:xfrm>
          <a:prstGeom prst="rect">
            <a:avLst/>
          </a:prstGeom>
          <a:noFill/>
        </p:spPr>
        <p:txBody>
          <a:bodyPr wrap="square">
            <a:spAutoFit/>
          </a:bodyPr>
          <a:lstStyle/>
          <a:p>
            <a:pPr algn="l">
              <a:spcBef>
                <a:spcPts val="0"/>
              </a:spcBef>
              <a:spcAft>
                <a:spcPts val="100"/>
              </a:spcAft>
            </a:pPr>
            <a:r>
              <a:rPr sz="800" b="0" i="0">
                <a:solidFill>
                  <a:srgbClr val="8FABBE"/>
                </a:solidFill>
              </a:rPr>
              <a:t>bp · sodium</a:t>
            </a:r>
          </a:p>
        </p:txBody>
      </p:sp>
      <p:sp>
        <p:nvSpPr>
          <p:cNvPr id="21" name="Rectangle 20"/>
          <p:cNvSpPr/>
          <p:nvPr/>
        </p:nvSpPr>
        <p:spPr>
          <a:xfrm>
            <a:off x="365760" y="2898648"/>
            <a:ext cx="11457432" cy="457200"/>
          </a:xfrm>
          <a:prstGeom prst="rect">
            <a:avLst/>
          </a:prstGeom>
          <a:solidFill>
            <a:srgbClr val="0A162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2990088"/>
            <a:ext cx="4297680" cy="274320"/>
          </a:xfrm>
          <a:prstGeom prst="rect">
            <a:avLst/>
          </a:prstGeom>
          <a:noFill/>
        </p:spPr>
        <p:txBody>
          <a:bodyPr wrap="square">
            <a:spAutoFit/>
          </a:bodyPr>
          <a:lstStyle/>
          <a:p>
            <a:pPr algn="l">
              <a:spcBef>
                <a:spcPts val="0"/>
              </a:spcBef>
              <a:spcAft>
                <a:spcPts val="100"/>
              </a:spcAft>
            </a:pPr>
            <a:r>
              <a:rPr sz="850" b="0" i="0">
                <a:solidFill>
                  <a:srgbClr val="FFFFFF"/>
                </a:solidFill>
              </a:rPr>
              <a:t>Diabetes Management in CKD</a:t>
            </a:r>
          </a:p>
        </p:txBody>
      </p:sp>
      <p:sp>
        <p:nvSpPr>
          <p:cNvPr id="23" name="TextBox 22"/>
          <p:cNvSpPr txBox="1"/>
          <p:nvPr/>
        </p:nvSpPr>
        <p:spPr>
          <a:xfrm>
            <a:off x="4919472" y="2990088"/>
            <a:ext cx="1737360" cy="274320"/>
          </a:xfrm>
          <a:prstGeom prst="rect">
            <a:avLst/>
          </a:prstGeom>
          <a:noFill/>
        </p:spPr>
        <p:txBody>
          <a:bodyPr wrap="square">
            <a:spAutoFit/>
          </a:bodyPr>
          <a:lstStyle/>
          <a:p>
            <a:pPr algn="l">
              <a:spcBef>
                <a:spcPts val="0"/>
              </a:spcBef>
              <a:spcAft>
                <a:spcPts val="100"/>
              </a:spcAft>
            </a:pPr>
            <a:r>
              <a:rPr sz="850" b="0" i="0">
                <a:solidFill>
                  <a:srgbClr val="00C9FF"/>
                </a:solidFill>
              </a:rPr>
              <a:t>ADA/KDIGO</a:t>
            </a:r>
          </a:p>
        </p:txBody>
      </p:sp>
      <p:sp>
        <p:nvSpPr>
          <p:cNvPr id="24" name="TextBox 23"/>
          <p:cNvSpPr txBox="1"/>
          <p:nvPr/>
        </p:nvSpPr>
        <p:spPr>
          <a:xfrm>
            <a:off x="6839712" y="2990088"/>
            <a:ext cx="640080" cy="274320"/>
          </a:xfrm>
          <a:prstGeom prst="rect">
            <a:avLst/>
          </a:prstGeom>
          <a:noFill/>
        </p:spPr>
        <p:txBody>
          <a:bodyPr wrap="square">
            <a:spAutoFit/>
          </a:bodyPr>
          <a:lstStyle/>
          <a:p>
            <a:pPr algn="l">
              <a:spcBef>
                <a:spcPts val="0"/>
              </a:spcBef>
              <a:spcAft>
                <a:spcPts val="100"/>
              </a:spcAft>
            </a:pPr>
            <a:r>
              <a:rPr sz="850" b="0" i="0">
                <a:solidFill>
                  <a:srgbClr val="8FABBE"/>
                </a:solidFill>
              </a:rPr>
              <a:t>2022</a:t>
            </a:r>
          </a:p>
        </p:txBody>
      </p:sp>
      <p:sp>
        <p:nvSpPr>
          <p:cNvPr id="25" name="TextBox 24"/>
          <p:cNvSpPr txBox="1"/>
          <p:nvPr/>
        </p:nvSpPr>
        <p:spPr>
          <a:xfrm>
            <a:off x="7662672" y="2990088"/>
            <a:ext cx="3840480" cy="274320"/>
          </a:xfrm>
          <a:prstGeom prst="rect">
            <a:avLst/>
          </a:prstGeom>
          <a:noFill/>
        </p:spPr>
        <p:txBody>
          <a:bodyPr wrap="square">
            <a:spAutoFit/>
          </a:bodyPr>
          <a:lstStyle/>
          <a:p>
            <a:pPr algn="l">
              <a:spcBef>
                <a:spcPts val="0"/>
              </a:spcBef>
              <a:spcAft>
                <a:spcPts val="100"/>
              </a:spcAft>
            </a:pPr>
            <a:r>
              <a:rPr sz="800" b="0" i="0">
                <a:solidFill>
                  <a:srgbClr val="8FABBE"/>
                </a:solidFill>
              </a:rPr>
              <a:t>diabetes · glucose</a:t>
            </a:r>
          </a:p>
        </p:txBody>
      </p:sp>
      <p:sp>
        <p:nvSpPr>
          <p:cNvPr id="26" name="Rectangle 25"/>
          <p:cNvSpPr/>
          <p:nvPr/>
        </p:nvSpPr>
        <p:spPr>
          <a:xfrm>
            <a:off x="365760" y="3410712"/>
            <a:ext cx="11457432" cy="45720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 y="3502152"/>
            <a:ext cx="4297680" cy="274320"/>
          </a:xfrm>
          <a:prstGeom prst="rect">
            <a:avLst/>
          </a:prstGeom>
          <a:noFill/>
        </p:spPr>
        <p:txBody>
          <a:bodyPr wrap="square">
            <a:spAutoFit/>
          </a:bodyPr>
          <a:lstStyle/>
          <a:p>
            <a:pPr algn="l">
              <a:spcBef>
                <a:spcPts val="0"/>
              </a:spcBef>
              <a:spcAft>
                <a:spcPts val="100"/>
              </a:spcAft>
            </a:pPr>
            <a:r>
              <a:rPr sz="850" b="0" i="0">
                <a:solidFill>
                  <a:srgbClr val="FFFFFF"/>
                </a:solidFill>
              </a:rPr>
              <a:t>ADA Standards of Care</a:t>
            </a:r>
          </a:p>
        </p:txBody>
      </p:sp>
      <p:sp>
        <p:nvSpPr>
          <p:cNvPr id="28" name="TextBox 27"/>
          <p:cNvSpPr txBox="1"/>
          <p:nvPr/>
        </p:nvSpPr>
        <p:spPr>
          <a:xfrm>
            <a:off x="4919472" y="3502152"/>
            <a:ext cx="1737360" cy="274320"/>
          </a:xfrm>
          <a:prstGeom prst="rect">
            <a:avLst/>
          </a:prstGeom>
          <a:noFill/>
        </p:spPr>
        <p:txBody>
          <a:bodyPr wrap="square">
            <a:spAutoFit/>
          </a:bodyPr>
          <a:lstStyle/>
          <a:p>
            <a:pPr algn="l">
              <a:spcBef>
                <a:spcPts val="0"/>
              </a:spcBef>
              <a:spcAft>
                <a:spcPts val="100"/>
              </a:spcAft>
            </a:pPr>
            <a:r>
              <a:rPr sz="850" b="0" i="0">
                <a:solidFill>
                  <a:srgbClr val="00C9FF"/>
                </a:solidFill>
              </a:rPr>
              <a:t>ADA</a:t>
            </a:r>
          </a:p>
        </p:txBody>
      </p:sp>
      <p:sp>
        <p:nvSpPr>
          <p:cNvPr id="29" name="TextBox 28"/>
          <p:cNvSpPr txBox="1"/>
          <p:nvPr/>
        </p:nvSpPr>
        <p:spPr>
          <a:xfrm>
            <a:off x="6839712" y="3502152"/>
            <a:ext cx="640080" cy="274320"/>
          </a:xfrm>
          <a:prstGeom prst="rect">
            <a:avLst/>
          </a:prstGeom>
          <a:noFill/>
        </p:spPr>
        <p:txBody>
          <a:bodyPr wrap="square">
            <a:spAutoFit/>
          </a:bodyPr>
          <a:lstStyle/>
          <a:p>
            <a:pPr algn="l">
              <a:spcBef>
                <a:spcPts val="0"/>
              </a:spcBef>
              <a:spcAft>
                <a:spcPts val="100"/>
              </a:spcAft>
            </a:pPr>
            <a:r>
              <a:rPr sz="850" b="0" i="0">
                <a:solidFill>
                  <a:srgbClr val="8FABBE"/>
                </a:solidFill>
              </a:rPr>
              <a:t>2026</a:t>
            </a:r>
          </a:p>
        </p:txBody>
      </p:sp>
      <p:sp>
        <p:nvSpPr>
          <p:cNvPr id="30" name="TextBox 29"/>
          <p:cNvSpPr txBox="1"/>
          <p:nvPr/>
        </p:nvSpPr>
        <p:spPr>
          <a:xfrm>
            <a:off x="7662672" y="3502152"/>
            <a:ext cx="3840480" cy="274320"/>
          </a:xfrm>
          <a:prstGeom prst="rect">
            <a:avLst/>
          </a:prstGeom>
          <a:noFill/>
        </p:spPr>
        <p:txBody>
          <a:bodyPr wrap="square">
            <a:spAutoFit/>
          </a:bodyPr>
          <a:lstStyle/>
          <a:p>
            <a:pPr algn="l">
              <a:spcBef>
                <a:spcPts val="0"/>
              </a:spcBef>
              <a:spcAft>
                <a:spcPts val="100"/>
              </a:spcAft>
            </a:pPr>
            <a:r>
              <a:rPr sz="800" b="0" i="0">
                <a:solidFill>
                  <a:srgbClr val="8FABBE"/>
                </a:solidFill>
              </a:rPr>
              <a:t>diabetes · bp · followup</a:t>
            </a:r>
          </a:p>
        </p:txBody>
      </p:sp>
      <p:sp>
        <p:nvSpPr>
          <p:cNvPr id="31" name="Rectangle 30"/>
          <p:cNvSpPr/>
          <p:nvPr/>
        </p:nvSpPr>
        <p:spPr>
          <a:xfrm>
            <a:off x="365760" y="3922776"/>
            <a:ext cx="11457432" cy="457200"/>
          </a:xfrm>
          <a:prstGeom prst="rect">
            <a:avLst/>
          </a:prstGeom>
          <a:solidFill>
            <a:srgbClr val="0A162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4014215"/>
            <a:ext cx="4297680" cy="274320"/>
          </a:xfrm>
          <a:prstGeom prst="rect">
            <a:avLst/>
          </a:prstGeom>
          <a:noFill/>
        </p:spPr>
        <p:txBody>
          <a:bodyPr wrap="square">
            <a:spAutoFit/>
          </a:bodyPr>
          <a:lstStyle/>
          <a:p>
            <a:pPr algn="l">
              <a:spcBef>
                <a:spcPts val="0"/>
              </a:spcBef>
              <a:spcAft>
                <a:spcPts val="100"/>
              </a:spcAft>
            </a:pPr>
            <a:r>
              <a:rPr sz="850" b="0" i="0">
                <a:solidFill>
                  <a:srgbClr val="FFFFFF"/>
                </a:solidFill>
              </a:rPr>
              <a:t>KDOQI Nutrition</a:t>
            </a:r>
          </a:p>
        </p:txBody>
      </p:sp>
      <p:sp>
        <p:nvSpPr>
          <p:cNvPr id="33" name="TextBox 32"/>
          <p:cNvSpPr txBox="1"/>
          <p:nvPr/>
        </p:nvSpPr>
        <p:spPr>
          <a:xfrm>
            <a:off x="4919472" y="4014215"/>
            <a:ext cx="1737360" cy="274320"/>
          </a:xfrm>
          <a:prstGeom prst="rect">
            <a:avLst/>
          </a:prstGeom>
          <a:noFill/>
        </p:spPr>
        <p:txBody>
          <a:bodyPr wrap="square">
            <a:spAutoFit/>
          </a:bodyPr>
          <a:lstStyle/>
          <a:p>
            <a:pPr algn="l">
              <a:spcBef>
                <a:spcPts val="0"/>
              </a:spcBef>
              <a:spcAft>
                <a:spcPts val="100"/>
              </a:spcAft>
            </a:pPr>
            <a:r>
              <a:rPr sz="850" b="0" i="0">
                <a:solidFill>
                  <a:srgbClr val="00C9FF"/>
                </a:solidFill>
              </a:rPr>
              <a:t>NKF</a:t>
            </a:r>
          </a:p>
        </p:txBody>
      </p:sp>
      <p:sp>
        <p:nvSpPr>
          <p:cNvPr id="34" name="TextBox 33"/>
          <p:cNvSpPr txBox="1"/>
          <p:nvPr/>
        </p:nvSpPr>
        <p:spPr>
          <a:xfrm>
            <a:off x="6839712" y="4014215"/>
            <a:ext cx="640080" cy="274320"/>
          </a:xfrm>
          <a:prstGeom prst="rect">
            <a:avLst/>
          </a:prstGeom>
          <a:noFill/>
        </p:spPr>
        <p:txBody>
          <a:bodyPr wrap="square">
            <a:spAutoFit/>
          </a:bodyPr>
          <a:lstStyle/>
          <a:p>
            <a:pPr algn="l">
              <a:spcBef>
                <a:spcPts val="0"/>
              </a:spcBef>
              <a:spcAft>
                <a:spcPts val="100"/>
              </a:spcAft>
            </a:pPr>
            <a:r>
              <a:rPr sz="850" b="0" i="0">
                <a:solidFill>
                  <a:srgbClr val="8FABBE"/>
                </a:solidFill>
              </a:rPr>
              <a:t>2020</a:t>
            </a:r>
          </a:p>
        </p:txBody>
      </p:sp>
      <p:sp>
        <p:nvSpPr>
          <p:cNvPr id="35" name="TextBox 34"/>
          <p:cNvSpPr txBox="1"/>
          <p:nvPr/>
        </p:nvSpPr>
        <p:spPr>
          <a:xfrm>
            <a:off x="7662672" y="4014215"/>
            <a:ext cx="3840480" cy="274320"/>
          </a:xfrm>
          <a:prstGeom prst="rect">
            <a:avLst/>
          </a:prstGeom>
          <a:noFill/>
        </p:spPr>
        <p:txBody>
          <a:bodyPr wrap="square">
            <a:spAutoFit/>
          </a:bodyPr>
          <a:lstStyle/>
          <a:p>
            <a:pPr algn="l">
              <a:spcBef>
                <a:spcPts val="0"/>
              </a:spcBef>
              <a:spcAft>
                <a:spcPts val="100"/>
              </a:spcAft>
            </a:pPr>
            <a:r>
              <a:rPr sz="800" b="0" i="0">
                <a:solidFill>
                  <a:srgbClr val="EF4444"/>
                </a:solidFill>
              </a:rPr>
              <a:t>nutrition (RESTRICTED — dietitian referral only)</a:t>
            </a:r>
          </a:p>
        </p:txBody>
      </p:sp>
      <p:sp>
        <p:nvSpPr>
          <p:cNvPr id="36" name="Rectangle 35"/>
          <p:cNvSpPr/>
          <p:nvPr/>
        </p:nvSpPr>
        <p:spPr>
          <a:xfrm>
            <a:off x="365760" y="4434840"/>
            <a:ext cx="11457432" cy="45720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4526279"/>
            <a:ext cx="4297680" cy="274320"/>
          </a:xfrm>
          <a:prstGeom prst="rect">
            <a:avLst/>
          </a:prstGeom>
          <a:noFill/>
        </p:spPr>
        <p:txBody>
          <a:bodyPr wrap="square">
            <a:spAutoFit/>
          </a:bodyPr>
          <a:lstStyle/>
          <a:p>
            <a:pPr algn="l">
              <a:spcBef>
                <a:spcPts val="0"/>
              </a:spcBef>
              <a:spcAft>
                <a:spcPts val="100"/>
              </a:spcAft>
            </a:pPr>
            <a:r>
              <a:rPr sz="850" b="0" i="0">
                <a:solidFill>
                  <a:srgbClr val="FFFFFF"/>
                </a:solidFill>
              </a:rPr>
              <a:t>Exercise Guidelines for CKD</a:t>
            </a:r>
          </a:p>
        </p:txBody>
      </p:sp>
      <p:sp>
        <p:nvSpPr>
          <p:cNvPr id="38" name="TextBox 37"/>
          <p:cNvSpPr txBox="1"/>
          <p:nvPr/>
        </p:nvSpPr>
        <p:spPr>
          <a:xfrm>
            <a:off x="4919472" y="4526279"/>
            <a:ext cx="1737360" cy="274320"/>
          </a:xfrm>
          <a:prstGeom prst="rect">
            <a:avLst/>
          </a:prstGeom>
          <a:noFill/>
        </p:spPr>
        <p:txBody>
          <a:bodyPr wrap="square">
            <a:spAutoFit/>
          </a:bodyPr>
          <a:lstStyle/>
          <a:p>
            <a:pPr algn="l">
              <a:spcBef>
                <a:spcPts val="0"/>
              </a:spcBef>
              <a:spcAft>
                <a:spcPts val="100"/>
              </a:spcAft>
            </a:pPr>
            <a:r>
              <a:rPr sz="850" b="0" i="0">
                <a:solidFill>
                  <a:srgbClr val="00C9FF"/>
                </a:solidFill>
              </a:rPr>
              <a:t>NKF</a:t>
            </a:r>
          </a:p>
        </p:txBody>
      </p:sp>
      <p:sp>
        <p:nvSpPr>
          <p:cNvPr id="39" name="TextBox 38"/>
          <p:cNvSpPr txBox="1"/>
          <p:nvPr/>
        </p:nvSpPr>
        <p:spPr>
          <a:xfrm>
            <a:off x="6839712" y="4526279"/>
            <a:ext cx="640080" cy="274320"/>
          </a:xfrm>
          <a:prstGeom prst="rect">
            <a:avLst/>
          </a:prstGeom>
          <a:noFill/>
        </p:spPr>
        <p:txBody>
          <a:bodyPr wrap="square">
            <a:spAutoFit/>
          </a:bodyPr>
          <a:lstStyle/>
          <a:p>
            <a:pPr algn="l">
              <a:spcBef>
                <a:spcPts val="0"/>
              </a:spcBef>
              <a:spcAft>
                <a:spcPts val="100"/>
              </a:spcAft>
            </a:pPr>
            <a:r>
              <a:rPr sz="850" b="0" i="0">
                <a:solidFill>
                  <a:srgbClr val="8FABBE"/>
                </a:solidFill>
              </a:rPr>
              <a:t>2023</a:t>
            </a:r>
          </a:p>
        </p:txBody>
      </p:sp>
      <p:sp>
        <p:nvSpPr>
          <p:cNvPr id="40" name="TextBox 39"/>
          <p:cNvSpPr txBox="1"/>
          <p:nvPr/>
        </p:nvSpPr>
        <p:spPr>
          <a:xfrm>
            <a:off x="7662672" y="4526279"/>
            <a:ext cx="3840480" cy="274320"/>
          </a:xfrm>
          <a:prstGeom prst="rect">
            <a:avLst/>
          </a:prstGeom>
          <a:noFill/>
        </p:spPr>
        <p:txBody>
          <a:bodyPr wrap="square">
            <a:spAutoFit/>
          </a:bodyPr>
          <a:lstStyle/>
          <a:p>
            <a:pPr algn="l">
              <a:spcBef>
                <a:spcPts val="0"/>
              </a:spcBef>
              <a:spcAft>
                <a:spcPts val="100"/>
              </a:spcAft>
            </a:pPr>
            <a:r>
              <a:rPr sz="800" b="0" i="0">
                <a:solidFill>
                  <a:srgbClr val="8FABBE"/>
                </a:solidFill>
              </a:rPr>
              <a:t>activity · weight</a:t>
            </a:r>
          </a:p>
        </p:txBody>
      </p:sp>
      <p:sp>
        <p:nvSpPr>
          <p:cNvPr id="41" name="Rectangle 40"/>
          <p:cNvSpPr/>
          <p:nvPr/>
        </p:nvSpPr>
        <p:spPr>
          <a:xfrm>
            <a:off x="365760" y="4946904"/>
            <a:ext cx="11457432" cy="457200"/>
          </a:xfrm>
          <a:prstGeom prst="rect">
            <a:avLst/>
          </a:prstGeom>
          <a:solidFill>
            <a:srgbClr val="0A162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8912" y="5038344"/>
            <a:ext cx="4297680" cy="274320"/>
          </a:xfrm>
          <a:prstGeom prst="rect">
            <a:avLst/>
          </a:prstGeom>
          <a:noFill/>
        </p:spPr>
        <p:txBody>
          <a:bodyPr wrap="square">
            <a:spAutoFit/>
          </a:bodyPr>
          <a:lstStyle/>
          <a:p>
            <a:pPr algn="l">
              <a:spcBef>
                <a:spcPts val="0"/>
              </a:spcBef>
              <a:spcAft>
                <a:spcPts val="100"/>
              </a:spcAft>
            </a:pPr>
            <a:r>
              <a:rPr sz="850" b="0" i="0">
                <a:solidFill>
                  <a:srgbClr val="FFFFFF"/>
                </a:solidFill>
              </a:rPr>
              <a:t>CKD Basics / Prevention</a:t>
            </a:r>
          </a:p>
        </p:txBody>
      </p:sp>
      <p:sp>
        <p:nvSpPr>
          <p:cNvPr id="43" name="TextBox 42"/>
          <p:cNvSpPr txBox="1"/>
          <p:nvPr/>
        </p:nvSpPr>
        <p:spPr>
          <a:xfrm>
            <a:off x="4919472" y="5038344"/>
            <a:ext cx="1737360" cy="274320"/>
          </a:xfrm>
          <a:prstGeom prst="rect">
            <a:avLst/>
          </a:prstGeom>
          <a:noFill/>
        </p:spPr>
        <p:txBody>
          <a:bodyPr wrap="square">
            <a:spAutoFit/>
          </a:bodyPr>
          <a:lstStyle/>
          <a:p>
            <a:pPr algn="l">
              <a:spcBef>
                <a:spcPts val="0"/>
              </a:spcBef>
              <a:spcAft>
                <a:spcPts val="100"/>
              </a:spcAft>
            </a:pPr>
            <a:r>
              <a:rPr sz="850" b="0" i="0">
                <a:solidFill>
                  <a:srgbClr val="00C9FF"/>
                </a:solidFill>
              </a:rPr>
              <a:t>CDC</a:t>
            </a:r>
          </a:p>
        </p:txBody>
      </p:sp>
      <p:sp>
        <p:nvSpPr>
          <p:cNvPr id="44" name="TextBox 43"/>
          <p:cNvSpPr txBox="1"/>
          <p:nvPr/>
        </p:nvSpPr>
        <p:spPr>
          <a:xfrm>
            <a:off x="6839712" y="5038344"/>
            <a:ext cx="640080" cy="274320"/>
          </a:xfrm>
          <a:prstGeom prst="rect">
            <a:avLst/>
          </a:prstGeom>
          <a:noFill/>
        </p:spPr>
        <p:txBody>
          <a:bodyPr wrap="square">
            <a:spAutoFit/>
          </a:bodyPr>
          <a:lstStyle/>
          <a:p>
            <a:pPr algn="l">
              <a:spcBef>
                <a:spcPts val="0"/>
              </a:spcBef>
              <a:spcAft>
                <a:spcPts val="100"/>
              </a:spcAft>
            </a:pPr>
            <a:r>
              <a:rPr sz="850" b="0" i="0">
                <a:solidFill>
                  <a:srgbClr val="8FABBE"/>
                </a:solidFill>
              </a:rPr>
              <a:t>2024</a:t>
            </a:r>
          </a:p>
        </p:txBody>
      </p:sp>
      <p:sp>
        <p:nvSpPr>
          <p:cNvPr id="45" name="TextBox 44"/>
          <p:cNvSpPr txBox="1"/>
          <p:nvPr/>
        </p:nvSpPr>
        <p:spPr>
          <a:xfrm>
            <a:off x="7662672" y="5038344"/>
            <a:ext cx="3840480" cy="274320"/>
          </a:xfrm>
          <a:prstGeom prst="rect">
            <a:avLst/>
          </a:prstGeom>
          <a:noFill/>
        </p:spPr>
        <p:txBody>
          <a:bodyPr wrap="square">
            <a:spAutoFit/>
          </a:bodyPr>
          <a:lstStyle/>
          <a:p>
            <a:pPr algn="l">
              <a:spcBef>
                <a:spcPts val="0"/>
              </a:spcBef>
              <a:spcAft>
                <a:spcPts val="100"/>
              </a:spcAft>
            </a:pPr>
            <a:r>
              <a:rPr sz="800" b="0" i="0">
                <a:solidFill>
                  <a:srgbClr val="8FABBE"/>
                </a:solidFill>
              </a:rPr>
              <a:t>general · prevention · followup</a:t>
            </a:r>
          </a:p>
        </p:txBody>
      </p:sp>
      <p:sp>
        <p:nvSpPr>
          <p:cNvPr id="46" name="Rectangle 45"/>
          <p:cNvSpPr/>
          <p:nvPr/>
        </p:nvSpPr>
        <p:spPr>
          <a:xfrm>
            <a:off x="365760" y="5559552"/>
            <a:ext cx="3657600" cy="91440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2064" y="5678424"/>
            <a:ext cx="3401568" cy="219456"/>
          </a:xfrm>
          <a:prstGeom prst="rect">
            <a:avLst/>
          </a:prstGeom>
          <a:noFill/>
        </p:spPr>
        <p:txBody>
          <a:bodyPr wrap="square">
            <a:spAutoFit/>
          </a:bodyPr>
          <a:lstStyle/>
          <a:p>
            <a:pPr algn="l">
              <a:spcBef>
                <a:spcPts val="0"/>
              </a:spcBef>
              <a:spcAft>
                <a:spcPts val="100"/>
              </a:spcAft>
            </a:pPr>
            <a:r>
              <a:rPr sz="700" b="1" i="0">
                <a:solidFill>
                  <a:srgbClr val="00C9FF"/>
                </a:solidFill>
              </a:rPr>
              <a:t>EMBEDDING &amp; RETRIEVAL</a:t>
            </a:r>
          </a:p>
        </p:txBody>
      </p:sp>
      <p:sp>
        <p:nvSpPr>
          <p:cNvPr id="48" name="TextBox 47"/>
          <p:cNvSpPr txBox="1"/>
          <p:nvPr/>
        </p:nvSpPr>
        <p:spPr>
          <a:xfrm>
            <a:off x="512064" y="5907024"/>
            <a:ext cx="3383280" cy="475488"/>
          </a:xfrm>
          <a:prstGeom prst="rect">
            <a:avLst/>
          </a:prstGeom>
          <a:noFill/>
        </p:spPr>
        <p:txBody>
          <a:bodyPr wrap="square">
            <a:spAutoFit/>
          </a:bodyPr>
          <a:lstStyle/>
          <a:p>
            <a:pPr algn="l">
              <a:spcBef>
                <a:spcPts val="0"/>
              </a:spcBef>
              <a:spcAft>
                <a:spcPts val="100"/>
              </a:spcAft>
            </a:pPr>
            <a:r>
              <a:rPr sz="850" b="0" i="0">
                <a:solidFill>
                  <a:srgbClr val="8FABBE"/>
                </a:solidFill>
              </a:rPr>
              <a:t>BGE-M3 (1024-d, via Ollama) · FAISS cosine search · k=4 chunks · TF-IDF offline fallback</a:t>
            </a:r>
          </a:p>
        </p:txBody>
      </p:sp>
      <p:sp>
        <p:nvSpPr>
          <p:cNvPr id="49" name="Rectangle 48"/>
          <p:cNvSpPr/>
          <p:nvPr/>
        </p:nvSpPr>
        <p:spPr>
          <a:xfrm>
            <a:off x="4160520" y="5559552"/>
            <a:ext cx="3703320" cy="914400"/>
          </a:xfrm>
          <a:prstGeom prst="rect">
            <a:avLst/>
          </a:prstGeom>
          <a:solidFill>
            <a:srgbClr val="1C0808"/>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160520" y="5559552"/>
            <a:ext cx="50292" cy="9144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70832" y="5678424"/>
            <a:ext cx="3447287" cy="219456"/>
          </a:xfrm>
          <a:prstGeom prst="rect">
            <a:avLst/>
          </a:prstGeom>
          <a:noFill/>
        </p:spPr>
        <p:txBody>
          <a:bodyPr wrap="square">
            <a:spAutoFit/>
          </a:bodyPr>
          <a:lstStyle/>
          <a:p>
            <a:pPr algn="l">
              <a:spcBef>
                <a:spcPts val="0"/>
              </a:spcBef>
              <a:spcAft>
                <a:spcPts val="100"/>
              </a:spcAft>
            </a:pPr>
            <a:r>
              <a:rPr sz="700" b="1" i="0">
                <a:solidFill>
                  <a:srgbClr val="00C9FF"/>
                </a:solidFill>
              </a:rPr>
              <a:t>SAFETY SCOPING</a:t>
            </a:r>
          </a:p>
        </p:txBody>
      </p:sp>
      <p:sp>
        <p:nvSpPr>
          <p:cNvPr id="52" name="TextBox 51"/>
          <p:cNvSpPr txBox="1"/>
          <p:nvPr/>
        </p:nvSpPr>
        <p:spPr>
          <a:xfrm>
            <a:off x="4370832" y="5907024"/>
            <a:ext cx="3429000" cy="475488"/>
          </a:xfrm>
          <a:prstGeom prst="rect">
            <a:avLst/>
          </a:prstGeom>
          <a:noFill/>
        </p:spPr>
        <p:txBody>
          <a:bodyPr wrap="square">
            <a:spAutoFit/>
          </a:bodyPr>
          <a:lstStyle/>
          <a:p>
            <a:pPr algn="l">
              <a:spcBef>
                <a:spcPts val="0"/>
              </a:spcBef>
              <a:spcAft>
                <a:spcPts val="100"/>
              </a:spcAft>
            </a:pPr>
            <a:r>
              <a:rPr sz="850" b="0" i="0">
                <a:solidFill>
                  <a:srgbClr val="8FABBE"/>
                </a:solidFill>
              </a:rPr>
              <a:t>Chunks with numeric nutrient targets tagged RESTRICTED — returned to LLM with 'discuss with dietitian' override.</a:t>
            </a:r>
          </a:p>
        </p:txBody>
      </p:sp>
      <p:sp>
        <p:nvSpPr>
          <p:cNvPr id="53" name="Rectangle 52"/>
          <p:cNvSpPr/>
          <p:nvPr/>
        </p:nvSpPr>
        <p:spPr>
          <a:xfrm>
            <a:off x="8001000" y="5559552"/>
            <a:ext cx="3822191" cy="91440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92440" y="5687568"/>
            <a:ext cx="3639311" cy="475488"/>
          </a:xfrm>
          <a:prstGeom prst="rect">
            <a:avLst/>
          </a:prstGeom>
          <a:noFill/>
        </p:spPr>
        <p:txBody>
          <a:bodyPr wrap="square">
            <a:spAutoFit/>
          </a:bodyPr>
          <a:lstStyle/>
          <a:p>
            <a:pPr algn="ctr">
              <a:spcBef>
                <a:spcPts val="0"/>
              </a:spcBef>
              <a:spcAft>
                <a:spcPts val="100"/>
              </a:spcAft>
            </a:pPr>
            <a:r>
              <a:rPr sz="2200" b="1" i="0">
                <a:solidFill>
                  <a:srgbClr val="00C9FF"/>
                </a:solidFill>
              </a:rPr>
              <a:t>118</a:t>
            </a:r>
          </a:p>
        </p:txBody>
      </p:sp>
      <p:sp>
        <p:nvSpPr>
          <p:cNvPr id="55" name="TextBox 54"/>
          <p:cNvSpPr txBox="1"/>
          <p:nvPr/>
        </p:nvSpPr>
        <p:spPr>
          <a:xfrm>
            <a:off x="8092440" y="6135624"/>
            <a:ext cx="3639311" cy="301752"/>
          </a:xfrm>
          <a:prstGeom prst="rect">
            <a:avLst/>
          </a:prstGeom>
          <a:noFill/>
        </p:spPr>
        <p:txBody>
          <a:bodyPr wrap="square">
            <a:spAutoFit/>
          </a:bodyPr>
          <a:lstStyle/>
          <a:p>
            <a:pPr algn="ctr">
              <a:spcBef>
                <a:spcPts val="0"/>
              </a:spcBef>
              <a:spcAft>
                <a:spcPts val="100"/>
              </a:spcAft>
            </a:pPr>
            <a:r>
              <a:rPr sz="650" b="0" i="0">
                <a:solidFill>
                  <a:srgbClr val="8FABBE"/>
                </a:solidFill>
              </a:rPr>
              <a:t>TOTAL GUIDELINE CHUNKS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SAFETY SYSTEM</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Multi-Layer </a:t>
            </a:r>
            <a:r>
              <a:rPr sz="2600" b="1">
                <a:solidFill>
                  <a:srgbClr val="00C9FF"/>
                </a:solidFill>
              </a:rPr>
              <a:t>Safety Validator</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Deterministic post-generation rule engine — 0% final unsafe output rate</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8046720" cy="521207"/>
          </a:xfrm>
          <a:prstGeom prst="rect">
            <a:avLst/>
          </a:prstGeom>
          <a:solidFill>
            <a:srgbClr val="1C0808"/>
          </a:solid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292608" cy="521207"/>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 y="1645919"/>
            <a:ext cx="237744" cy="256032"/>
          </a:xfrm>
          <a:prstGeom prst="rect">
            <a:avLst/>
          </a:prstGeom>
          <a:noFill/>
        </p:spPr>
        <p:txBody>
          <a:bodyPr wrap="square">
            <a:spAutoFit/>
          </a:bodyPr>
          <a:lstStyle/>
          <a:p>
            <a:pPr algn="ctr">
              <a:spcBef>
                <a:spcPts val="0"/>
              </a:spcBef>
              <a:spcAft>
                <a:spcPts val="100"/>
              </a:spcAft>
            </a:pPr>
            <a:r>
              <a:rPr sz="900" b="1" i="0">
                <a:solidFill>
                  <a:srgbClr val="07111F"/>
                </a:solidFill>
              </a:rPr>
              <a:t>1</a:t>
            </a:r>
          </a:p>
        </p:txBody>
      </p:sp>
      <p:sp>
        <p:nvSpPr>
          <p:cNvPr id="9" name="TextBox 8"/>
          <p:cNvSpPr txBox="1"/>
          <p:nvPr/>
        </p:nvSpPr>
        <p:spPr>
          <a:xfrm>
            <a:off x="749808" y="1563624"/>
            <a:ext cx="3474720" cy="219456"/>
          </a:xfrm>
          <a:prstGeom prst="rect">
            <a:avLst/>
          </a:prstGeom>
          <a:noFill/>
        </p:spPr>
        <p:txBody>
          <a:bodyPr wrap="square">
            <a:spAutoFit/>
          </a:bodyPr>
          <a:lstStyle/>
          <a:p>
            <a:pPr algn="l">
              <a:spcBef>
                <a:spcPts val="0"/>
              </a:spcBef>
              <a:spcAft>
                <a:spcPts val="100"/>
              </a:spcAft>
            </a:pPr>
            <a:r>
              <a:rPr sz="800" b="1" i="0">
                <a:solidFill>
                  <a:srgbClr val="EF4444"/>
                </a:solidFill>
              </a:rPr>
              <a:t>Diagnosis block</a:t>
            </a:r>
          </a:p>
        </p:txBody>
      </p:sp>
      <p:sp>
        <p:nvSpPr>
          <p:cNvPr id="10" name="TextBox 9"/>
          <p:cNvSpPr txBox="1"/>
          <p:nvPr/>
        </p:nvSpPr>
        <p:spPr>
          <a:xfrm>
            <a:off x="749808" y="1764792"/>
            <a:ext cx="6858000" cy="219456"/>
          </a:xfrm>
          <a:prstGeom prst="rect">
            <a:avLst/>
          </a:prstGeom>
          <a:noFill/>
        </p:spPr>
        <p:txBody>
          <a:bodyPr wrap="square">
            <a:spAutoFit/>
          </a:bodyPr>
          <a:lstStyle/>
          <a:p>
            <a:pPr algn="l">
              <a:spcBef>
                <a:spcPts val="0"/>
              </a:spcBef>
              <a:spcAft>
                <a:spcPts val="100"/>
              </a:spcAft>
            </a:pPr>
            <a:r>
              <a:rPr sz="750" b="0" i="0">
                <a:solidFill>
                  <a:srgbClr val="8FABBE"/>
                </a:solidFill>
              </a:rPr>
              <a:t>Detects 'you have CKD / kidney disease / kidney failure'</a:t>
            </a:r>
          </a:p>
        </p:txBody>
      </p:sp>
      <p:sp>
        <p:nvSpPr>
          <p:cNvPr id="11" name="Rectangle 10"/>
          <p:cNvSpPr/>
          <p:nvPr/>
        </p:nvSpPr>
        <p:spPr>
          <a:xfrm>
            <a:off x="8503920" y="1600200"/>
            <a:ext cx="3502152" cy="338328"/>
          </a:xfrm>
          <a:prstGeom prst="rect">
            <a:avLst/>
          </a:prstGeom>
          <a:solidFill>
            <a:srgbClr val="1C0808"/>
          </a:solidFill>
          <a:ln w="508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77072" y="1645919"/>
            <a:ext cx="3401568" cy="237744"/>
          </a:xfrm>
          <a:prstGeom prst="rect">
            <a:avLst/>
          </a:prstGeom>
          <a:noFill/>
        </p:spPr>
        <p:txBody>
          <a:bodyPr wrap="square">
            <a:spAutoFit/>
          </a:bodyPr>
          <a:lstStyle/>
          <a:p>
            <a:pPr algn="l">
              <a:spcBef>
                <a:spcPts val="0"/>
              </a:spcBef>
              <a:spcAft>
                <a:spcPts val="100"/>
              </a:spcAft>
            </a:pPr>
            <a:r>
              <a:rPr sz="750" b="1" i="0">
                <a:solidFill>
                  <a:srgbClr val="EF4444"/>
                </a:solidFill>
              </a:rPr>
              <a:t>Severe  →  fallback</a:t>
            </a:r>
          </a:p>
        </p:txBody>
      </p:sp>
      <p:sp>
        <p:nvSpPr>
          <p:cNvPr id="13" name="Rectangle 12"/>
          <p:cNvSpPr/>
          <p:nvPr/>
        </p:nvSpPr>
        <p:spPr>
          <a:xfrm>
            <a:off x="365760" y="2075688"/>
            <a:ext cx="8046720" cy="521207"/>
          </a:xfrm>
          <a:prstGeom prst="rect">
            <a:avLst/>
          </a:prstGeom>
          <a:solidFill>
            <a:srgbClr val="1C0808"/>
          </a:solid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075688"/>
            <a:ext cx="292608" cy="521207"/>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3192" y="2212848"/>
            <a:ext cx="237744" cy="256032"/>
          </a:xfrm>
          <a:prstGeom prst="rect">
            <a:avLst/>
          </a:prstGeom>
          <a:noFill/>
        </p:spPr>
        <p:txBody>
          <a:bodyPr wrap="square">
            <a:spAutoFit/>
          </a:bodyPr>
          <a:lstStyle/>
          <a:p>
            <a:pPr algn="ctr">
              <a:spcBef>
                <a:spcPts val="0"/>
              </a:spcBef>
              <a:spcAft>
                <a:spcPts val="100"/>
              </a:spcAft>
            </a:pPr>
            <a:r>
              <a:rPr sz="900" b="1" i="0">
                <a:solidFill>
                  <a:srgbClr val="07111F"/>
                </a:solidFill>
              </a:rPr>
              <a:t>2</a:t>
            </a:r>
          </a:p>
        </p:txBody>
      </p:sp>
      <p:sp>
        <p:nvSpPr>
          <p:cNvPr id="16" name="TextBox 15"/>
          <p:cNvSpPr txBox="1"/>
          <p:nvPr/>
        </p:nvSpPr>
        <p:spPr>
          <a:xfrm>
            <a:off x="749808" y="2130552"/>
            <a:ext cx="3474720" cy="219456"/>
          </a:xfrm>
          <a:prstGeom prst="rect">
            <a:avLst/>
          </a:prstGeom>
          <a:noFill/>
        </p:spPr>
        <p:txBody>
          <a:bodyPr wrap="square">
            <a:spAutoFit/>
          </a:bodyPr>
          <a:lstStyle/>
          <a:p>
            <a:pPr algn="l">
              <a:spcBef>
                <a:spcPts val="0"/>
              </a:spcBef>
              <a:spcAft>
                <a:spcPts val="100"/>
              </a:spcAft>
            </a:pPr>
            <a:r>
              <a:rPr sz="800" b="1" i="0">
                <a:solidFill>
                  <a:srgbClr val="EF4444"/>
                </a:solidFill>
              </a:rPr>
              <a:t>Medication block</a:t>
            </a:r>
          </a:p>
        </p:txBody>
      </p:sp>
      <p:sp>
        <p:nvSpPr>
          <p:cNvPr id="17" name="TextBox 16"/>
          <p:cNvSpPr txBox="1"/>
          <p:nvPr/>
        </p:nvSpPr>
        <p:spPr>
          <a:xfrm>
            <a:off x="749808" y="2331720"/>
            <a:ext cx="6858000" cy="219456"/>
          </a:xfrm>
          <a:prstGeom prst="rect">
            <a:avLst/>
          </a:prstGeom>
          <a:noFill/>
        </p:spPr>
        <p:txBody>
          <a:bodyPr wrap="square">
            <a:spAutoFit/>
          </a:bodyPr>
          <a:lstStyle/>
          <a:p>
            <a:pPr algn="l">
              <a:spcBef>
                <a:spcPts val="0"/>
              </a:spcBef>
              <a:spcAft>
                <a:spcPts val="100"/>
              </a:spcAft>
            </a:pPr>
            <a:r>
              <a:rPr sz="750" b="0" i="0">
                <a:solidFill>
                  <a:srgbClr val="8FABBE"/>
                </a:solidFill>
              </a:rPr>
              <a:t>Drug names, dosing language, start/stop instructions</a:t>
            </a:r>
          </a:p>
        </p:txBody>
      </p:sp>
      <p:sp>
        <p:nvSpPr>
          <p:cNvPr id="18" name="Rectangle 17"/>
          <p:cNvSpPr/>
          <p:nvPr/>
        </p:nvSpPr>
        <p:spPr>
          <a:xfrm>
            <a:off x="8503920" y="2167128"/>
            <a:ext cx="3502152" cy="338328"/>
          </a:xfrm>
          <a:prstGeom prst="rect">
            <a:avLst/>
          </a:prstGeom>
          <a:solidFill>
            <a:srgbClr val="1C0808"/>
          </a:solidFill>
          <a:ln w="508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77072" y="2212848"/>
            <a:ext cx="3401568" cy="237744"/>
          </a:xfrm>
          <a:prstGeom prst="rect">
            <a:avLst/>
          </a:prstGeom>
          <a:noFill/>
        </p:spPr>
        <p:txBody>
          <a:bodyPr wrap="square">
            <a:spAutoFit/>
          </a:bodyPr>
          <a:lstStyle/>
          <a:p>
            <a:pPr algn="l">
              <a:spcBef>
                <a:spcPts val="0"/>
              </a:spcBef>
              <a:spcAft>
                <a:spcPts val="100"/>
              </a:spcAft>
            </a:pPr>
            <a:r>
              <a:rPr sz="750" b="1" i="0">
                <a:solidFill>
                  <a:srgbClr val="EF4444"/>
                </a:solidFill>
              </a:rPr>
              <a:t>Severe  →  fallback</a:t>
            </a:r>
          </a:p>
        </p:txBody>
      </p:sp>
      <p:sp>
        <p:nvSpPr>
          <p:cNvPr id="20" name="Rectangle 19"/>
          <p:cNvSpPr/>
          <p:nvPr/>
        </p:nvSpPr>
        <p:spPr>
          <a:xfrm>
            <a:off x="365760" y="2642615"/>
            <a:ext cx="8046720" cy="521207"/>
          </a:xfrm>
          <a:prstGeom prst="rect">
            <a:avLst/>
          </a:prstGeom>
          <a:solidFill>
            <a:srgbClr val="1C0808"/>
          </a:solidFill>
          <a:ln w="63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642615"/>
            <a:ext cx="292608" cy="521207"/>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 y="2779775"/>
            <a:ext cx="237744" cy="256032"/>
          </a:xfrm>
          <a:prstGeom prst="rect">
            <a:avLst/>
          </a:prstGeom>
          <a:noFill/>
        </p:spPr>
        <p:txBody>
          <a:bodyPr wrap="square">
            <a:spAutoFit/>
          </a:bodyPr>
          <a:lstStyle/>
          <a:p>
            <a:pPr algn="ctr">
              <a:spcBef>
                <a:spcPts val="0"/>
              </a:spcBef>
              <a:spcAft>
                <a:spcPts val="100"/>
              </a:spcAft>
            </a:pPr>
            <a:r>
              <a:rPr sz="900" b="1" i="0">
                <a:solidFill>
                  <a:srgbClr val="07111F"/>
                </a:solidFill>
              </a:rPr>
              <a:t>3</a:t>
            </a:r>
          </a:p>
        </p:txBody>
      </p:sp>
      <p:sp>
        <p:nvSpPr>
          <p:cNvPr id="23" name="TextBox 22"/>
          <p:cNvSpPr txBox="1"/>
          <p:nvPr/>
        </p:nvSpPr>
        <p:spPr>
          <a:xfrm>
            <a:off x="749808" y="2697479"/>
            <a:ext cx="3474720" cy="219456"/>
          </a:xfrm>
          <a:prstGeom prst="rect">
            <a:avLst/>
          </a:prstGeom>
          <a:noFill/>
        </p:spPr>
        <p:txBody>
          <a:bodyPr wrap="square">
            <a:spAutoFit/>
          </a:bodyPr>
          <a:lstStyle/>
          <a:p>
            <a:pPr algn="l">
              <a:spcBef>
                <a:spcPts val="0"/>
              </a:spcBef>
              <a:spcAft>
                <a:spcPts val="100"/>
              </a:spcAft>
            </a:pPr>
            <a:r>
              <a:rPr sz="800" b="1" i="0">
                <a:solidFill>
                  <a:srgbClr val="EF4444"/>
                </a:solidFill>
              </a:rPr>
              <a:t>Supplement block</a:t>
            </a:r>
          </a:p>
        </p:txBody>
      </p:sp>
      <p:sp>
        <p:nvSpPr>
          <p:cNvPr id="24" name="TextBox 23"/>
          <p:cNvSpPr txBox="1"/>
          <p:nvPr/>
        </p:nvSpPr>
        <p:spPr>
          <a:xfrm>
            <a:off x="749808" y="2898648"/>
            <a:ext cx="6858000" cy="219456"/>
          </a:xfrm>
          <a:prstGeom prst="rect">
            <a:avLst/>
          </a:prstGeom>
          <a:noFill/>
        </p:spPr>
        <p:txBody>
          <a:bodyPr wrap="square">
            <a:spAutoFit/>
          </a:bodyPr>
          <a:lstStyle/>
          <a:p>
            <a:pPr algn="l">
              <a:spcBef>
                <a:spcPts val="0"/>
              </a:spcBef>
              <a:spcAft>
                <a:spcPts val="100"/>
              </a:spcAft>
            </a:pPr>
            <a:r>
              <a:rPr sz="750" b="0" i="0">
                <a:solidFill>
                  <a:srgbClr val="8FABBE"/>
                </a:solidFill>
              </a:rPr>
              <a:t>Detects 'take fish oil / vitamin D / probiotics…'</a:t>
            </a:r>
          </a:p>
        </p:txBody>
      </p:sp>
      <p:sp>
        <p:nvSpPr>
          <p:cNvPr id="25" name="Rectangle 24"/>
          <p:cNvSpPr/>
          <p:nvPr/>
        </p:nvSpPr>
        <p:spPr>
          <a:xfrm>
            <a:off x="8503920" y="2734056"/>
            <a:ext cx="3502152" cy="338328"/>
          </a:xfrm>
          <a:prstGeom prst="rect">
            <a:avLst/>
          </a:prstGeom>
          <a:solidFill>
            <a:srgbClr val="1C0808"/>
          </a:solidFill>
          <a:ln w="508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77072" y="2779775"/>
            <a:ext cx="3401568" cy="237744"/>
          </a:xfrm>
          <a:prstGeom prst="rect">
            <a:avLst/>
          </a:prstGeom>
          <a:noFill/>
        </p:spPr>
        <p:txBody>
          <a:bodyPr wrap="square">
            <a:spAutoFit/>
          </a:bodyPr>
          <a:lstStyle/>
          <a:p>
            <a:pPr algn="l">
              <a:spcBef>
                <a:spcPts val="0"/>
              </a:spcBef>
              <a:spcAft>
                <a:spcPts val="100"/>
              </a:spcAft>
            </a:pPr>
            <a:r>
              <a:rPr sz="750" b="1" i="0">
                <a:solidFill>
                  <a:srgbClr val="EF4444"/>
                </a:solidFill>
              </a:rPr>
              <a:t>Severe  →  fallback</a:t>
            </a:r>
          </a:p>
        </p:txBody>
      </p:sp>
      <p:sp>
        <p:nvSpPr>
          <p:cNvPr id="27" name="Rectangle 26"/>
          <p:cNvSpPr/>
          <p:nvPr/>
        </p:nvSpPr>
        <p:spPr>
          <a:xfrm>
            <a:off x="365760" y="3209544"/>
            <a:ext cx="8046720" cy="521207"/>
          </a:xfrm>
          <a:prstGeom prst="rect">
            <a:avLst/>
          </a:prstGeom>
          <a:solidFill>
            <a:srgbClr val="201605"/>
          </a:solidFill>
          <a:ln w="63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209544"/>
            <a:ext cx="292608" cy="52120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3192" y="3346703"/>
            <a:ext cx="237744" cy="256032"/>
          </a:xfrm>
          <a:prstGeom prst="rect">
            <a:avLst/>
          </a:prstGeom>
          <a:noFill/>
        </p:spPr>
        <p:txBody>
          <a:bodyPr wrap="square">
            <a:spAutoFit/>
          </a:bodyPr>
          <a:lstStyle/>
          <a:p>
            <a:pPr algn="ctr">
              <a:spcBef>
                <a:spcPts val="0"/>
              </a:spcBef>
              <a:spcAft>
                <a:spcPts val="100"/>
              </a:spcAft>
            </a:pPr>
            <a:r>
              <a:rPr sz="900" b="1" i="0">
                <a:solidFill>
                  <a:srgbClr val="07111F"/>
                </a:solidFill>
              </a:rPr>
              <a:t>4</a:t>
            </a:r>
          </a:p>
        </p:txBody>
      </p:sp>
      <p:sp>
        <p:nvSpPr>
          <p:cNvPr id="30" name="TextBox 29"/>
          <p:cNvSpPr txBox="1"/>
          <p:nvPr/>
        </p:nvSpPr>
        <p:spPr>
          <a:xfrm>
            <a:off x="749808" y="3264408"/>
            <a:ext cx="3474720" cy="219456"/>
          </a:xfrm>
          <a:prstGeom prst="rect">
            <a:avLst/>
          </a:prstGeom>
          <a:noFill/>
        </p:spPr>
        <p:txBody>
          <a:bodyPr wrap="square">
            <a:spAutoFit/>
          </a:bodyPr>
          <a:lstStyle/>
          <a:p>
            <a:pPr algn="l">
              <a:spcBef>
                <a:spcPts val="0"/>
              </a:spcBef>
              <a:spcAft>
                <a:spcPts val="100"/>
              </a:spcAft>
            </a:pPr>
            <a:r>
              <a:rPr sz="800" b="1" i="0">
                <a:solidFill>
                  <a:srgbClr val="F59E0B"/>
                </a:solidFill>
              </a:rPr>
              <a:t>Nutrition restriction</a:t>
            </a:r>
          </a:p>
        </p:txBody>
      </p:sp>
      <p:sp>
        <p:nvSpPr>
          <p:cNvPr id="31" name="TextBox 30"/>
          <p:cNvSpPr txBox="1"/>
          <p:nvPr/>
        </p:nvSpPr>
        <p:spPr>
          <a:xfrm>
            <a:off x="749808" y="3465576"/>
            <a:ext cx="6858000" cy="219456"/>
          </a:xfrm>
          <a:prstGeom prst="rect">
            <a:avLst/>
          </a:prstGeom>
          <a:noFill/>
        </p:spPr>
        <p:txBody>
          <a:bodyPr wrap="square">
            <a:spAutoFit/>
          </a:bodyPr>
          <a:lstStyle/>
          <a:p>
            <a:pPr algn="l">
              <a:spcBef>
                <a:spcPts val="0"/>
              </a:spcBef>
              <a:spcAft>
                <a:spcPts val="100"/>
              </a:spcAft>
            </a:pPr>
            <a:r>
              <a:rPr sz="750" b="0" i="0">
                <a:solidFill>
                  <a:srgbClr val="8FABBE"/>
                </a:solidFill>
              </a:rPr>
              <a:t>Numeric targets (2 g sodium, potassium 2000 mg) → rewrites to dietitian ref</a:t>
            </a:r>
          </a:p>
        </p:txBody>
      </p:sp>
      <p:sp>
        <p:nvSpPr>
          <p:cNvPr id="32" name="Rectangle 31"/>
          <p:cNvSpPr/>
          <p:nvPr/>
        </p:nvSpPr>
        <p:spPr>
          <a:xfrm>
            <a:off x="8503920" y="3300984"/>
            <a:ext cx="3502152" cy="338328"/>
          </a:xfrm>
          <a:prstGeom prst="rect">
            <a:avLst/>
          </a:prstGeom>
          <a:solidFill>
            <a:srgbClr val="201605"/>
          </a:solidFill>
          <a:ln w="508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77072" y="3346703"/>
            <a:ext cx="3401568" cy="237744"/>
          </a:xfrm>
          <a:prstGeom prst="rect">
            <a:avLst/>
          </a:prstGeom>
          <a:noFill/>
        </p:spPr>
        <p:txBody>
          <a:bodyPr wrap="square">
            <a:spAutoFit/>
          </a:bodyPr>
          <a:lstStyle/>
          <a:p>
            <a:pPr algn="l">
              <a:spcBef>
                <a:spcPts val="0"/>
              </a:spcBef>
              <a:spcAft>
                <a:spcPts val="100"/>
              </a:spcAft>
            </a:pPr>
            <a:r>
              <a:rPr sz="750" b="1" i="0">
                <a:solidFill>
                  <a:srgbClr val="F59E0B"/>
                </a:solidFill>
              </a:rPr>
              <a:t>Moderate  →  sanitise</a:t>
            </a:r>
          </a:p>
        </p:txBody>
      </p:sp>
      <p:sp>
        <p:nvSpPr>
          <p:cNvPr id="34" name="Rectangle 33"/>
          <p:cNvSpPr/>
          <p:nvPr/>
        </p:nvSpPr>
        <p:spPr>
          <a:xfrm>
            <a:off x="365760" y="3776472"/>
            <a:ext cx="8046720" cy="521207"/>
          </a:xfrm>
          <a:prstGeom prst="rect">
            <a:avLst/>
          </a:prstGeom>
          <a:solidFill>
            <a:srgbClr val="201605"/>
          </a:solidFill>
          <a:ln w="63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776472"/>
            <a:ext cx="292608" cy="52120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3192" y="3913632"/>
            <a:ext cx="237744" cy="256032"/>
          </a:xfrm>
          <a:prstGeom prst="rect">
            <a:avLst/>
          </a:prstGeom>
          <a:noFill/>
        </p:spPr>
        <p:txBody>
          <a:bodyPr wrap="square">
            <a:spAutoFit/>
          </a:bodyPr>
          <a:lstStyle/>
          <a:p>
            <a:pPr algn="ctr">
              <a:spcBef>
                <a:spcPts val="0"/>
              </a:spcBef>
              <a:spcAft>
                <a:spcPts val="100"/>
              </a:spcAft>
            </a:pPr>
            <a:r>
              <a:rPr sz="900" b="1" i="0">
                <a:solidFill>
                  <a:srgbClr val="07111F"/>
                </a:solidFill>
              </a:rPr>
              <a:t>5</a:t>
            </a:r>
          </a:p>
        </p:txBody>
      </p:sp>
      <p:sp>
        <p:nvSpPr>
          <p:cNvPr id="37" name="TextBox 36"/>
          <p:cNvSpPr txBox="1"/>
          <p:nvPr/>
        </p:nvSpPr>
        <p:spPr>
          <a:xfrm>
            <a:off x="749808" y="3831335"/>
            <a:ext cx="3474720" cy="219456"/>
          </a:xfrm>
          <a:prstGeom prst="rect">
            <a:avLst/>
          </a:prstGeom>
          <a:noFill/>
        </p:spPr>
        <p:txBody>
          <a:bodyPr wrap="square">
            <a:spAutoFit/>
          </a:bodyPr>
          <a:lstStyle/>
          <a:p>
            <a:pPr algn="l">
              <a:spcBef>
                <a:spcPts val="0"/>
              </a:spcBef>
              <a:spcAft>
                <a:spcPts val="100"/>
              </a:spcAft>
            </a:pPr>
            <a:r>
              <a:rPr sz="800" b="1" i="0">
                <a:solidFill>
                  <a:srgbClr val="F59E0B"/>
                </a:solidFill>
              </a:rPr>
              <a:t>Lab-reminder append</a:t>
            </a:r>
          </a:p>
        </p:txBody>
      </p:sp>
      <p:sp>
        <p:nvSpPr>
          <p:cNvPr id="38" name="TextBox 37"/>
          <p:cNvSpPr txBox="1"/>
          <p:nvPr/>
        </p:nvSpPr>
        <p:spPr>
          <a:xfrm>
            <a:off x="749808" y="4032504"/>
            <a:ext cx="6858000" cy="219456"/>
          </a:xfrm>
          <a:prstGeom prst="rect">
            <a:avLst/>
          </a:prstGeom>
          <a:noFill/>
        </p:spPr>
        <p:txBody>
          <a:bodyPr wrap="square">
            <a:spAutoFit/>
          </a:bodyPr>
          <a:lstStyle/>
          <a:p>
            <a:pPr algn="l">
              <a:spcBef>
                <a:spcPts val="0"/>
              </a:spcBef>
              <a:spcAft>
                <a:spcPts val="100"/>
              </a:spcAft>
            </a:pPr>
            <a:r>
              <a:rPr sz="750" b="0" i="0">
                <a:solidFill>
                  <a:srgbClr val="8FABBE"/>
                </a:solidFill>
              </a:rPr>
              <a:t>Moderate/High with missing follow-up mention → auto-appends reminder</a:t>
            </a:r>
          </a:p>
        </p:txBody>
      </p:sp>
      <p:sp>
        <p:nvSpPr>
          <p:cNvPr id="39" name="Rectangle 38"/>
          <p:cNvSpPr/>
          <p:nvPr/>
        </p:nvSpPr>
        <p:spPr>
          <a:xfrm>
            <a:off x="8503920" y="3867911"/>
            <a:ext cx="3502152" cy="338328"/>
          </a:xfrm>
          <a:prstGeom prst="rect">
            <a:avLst/>
          </a:prstGeom>
          <a:solidFill>
            <a:srgbClr val="201605"/>
          </a:solidFill>
          <a:ln w="508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77072" y="3913632"/>
            <a:ext cx="3401568" cy="237744"/>
          </a:xfrm>
          <a:prstGeom prst="rect">
            <a:avLst/>
          </a:prstGeom>
          <a:noFill/>
        </p:spPr>
        <p:txBody>
          <a:bodyPr wrap="square">
            <a:spAutoFit/>
          </a:bodyPr>
          <a:lstStyle/>
          <a:p>
            <a:pPr algn="l">
              <a:spcBef>
                <a:spcPts val="0"/>
              </a:spcBef>
              <a:spcAft>
                <a:spcPts val="100"/>
              </a:spcAft>
            </a:pPr>
            <a:r>
              <a:rPr sz="750" b="1" i="0">
                <a:solidFill>
                  <a:srgbClr val="F59E0B"/>
                </a:solidFill>
              </a:rPr>
              <a:t>Moderate  →  sanitise</a:t>
            </a:r>
          </a:p>
        </p:txBody>
      </p:sp>
      <p:sp>
        <p:nvSpPr>
          <p:cNvPr id="41" name="Rectangle 40"/>
          <p:cNvSpPr/>
          <p:nvPr/>
        </p:nvSpPr>
        <p:spPr>
          <a:xfrm>
            <a:off x="365760" y="4343400"/>
            <a:ext cx="8046720" cy="521207"/>
          </a:xfrm>
          <a:prstGeom prst="rect">
            <a:avLst/>
          </a:prstGeom>
          <a:solidFill>
            <a:srgbClr val="201605"/>
          </a:solidFill>
          <a:ln w="63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5760" y="4343400"/>
            <a:ext cx="292608" cy="52120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3192" y="4480560"/>
            <a:ext cx="237744" cy="256032"/>
          </a:xfrm>
          <a:prstGeom prst="rect">
            <a:avLst/>
          </a:prstGeom>
          <a:noFill/>
        </p:spPr>
        <p:txBody>
          <a:bodyPr wrap="square">
            <a:spAutoFit/>
          </a:bodyPr>
          <a:lstStyle/>
          <a:p>
            <a:pPr algn="ctr">
              <a:spcBef>
                <a:spcPts val="0"/>
              </a:spcBef>
              <a:spcAft>
                <a:spcPts val="100"/>
              </a:spcAft>
            </a:pPr>
            <a:r>
              <a:rPr sz="900" b="1" i="0">
                <a:solidFill>
                  <a:srgbClr val="07111F"/>
                </a:solidFill>
              </a:rPr>
              <a:t>6</a:t>
            </a:r>
          </a:p>
        </p:txBody>
      </p:sp>
      <p:sp>
        <p:nvSpPr>
          <p:cNvPr id="44" name="TextBox 43"/>
          <p:cNvSpPr txBox="1"/>
          <p:nvPr/>
        </p:nvSpPr>
        <p:spPr>
          <a:xfrm>
            <a:off x="749808" y="4398264"/>
            <a:ext cx="3474720" cy="219456"/>
          </a:xfrm>
          <a:prstGeom prst="rect">
            <a:avLst/>
          </a:prstGeom>
          <a:noFill/>
        </p:spPr>
        <p:txBody>
          <a:bodyPr wrap="square">
            <a:spAutoFit/>
          </a:bodyPr>
          <a:lstStyle/>
          <a:p>
            <a:pPr algn="l">
              <a:spcBef>
                <a:spcPts val="0"/>
              </a:spcBef>
              <a:spcAft>
                <a:spcPts val="100"/>
              </a:spcAft>
            </a:pPr>
            <a:r>
              <a:rPr sz="800" b="1" i="0">
                <a:solidFill>
                  <a:srgbClr val="F59E0B"/>
                </a:solidFill>
              </a:rPr>
              <a:t>Emergency redirect</a:t>
            </a:r>
          </a:p>
        </p:txBody>
      </p:sp>
      <p:sp>
        <p:nvSpPr>
          <p:cNvPr id="45" name="TextBox 44"/>
          <p:cNvSpPr txBox="1"/>
          <p:nvPr/>
        </p:nvSpPr>
        <p:spPr>
          <a:xfrm>
            <a:off x="749808" y="4599432"/>
            <a:ext cx="6858000" cy="219456"/>
          </a:xfrm>
          <a:prstGeom prst="rect">
            <a:avLst/>
          </a:prstGeom>
          <a:noFill/>
        </p:spPr>
        <p:txBody>
          <a:bodyPr wrap="square">
            <a:spAutoFit/>
          </a:bodyPr>
          <a:lstStyle/>
          <a:p>
            <a:pPr algn="l">
              <a:spcBef>
                <a:spcPts val="0"/>
              </a:spcBef>
              <a:spcAft>
                <a:spcPts val="100"/>
              </a:spcAft>
            </a:pPr>
            <a:r>
              <a:rPr sz="750" b="0" i="0">
                <a:solidFill>
                  <a:srgbClr val="8FABBE"/>
                </a:solidFill>
              </a:rPr>
              <a:t>SBP ≥ 180 or DBP ≥ 120 → prepends urgent-care notice</a:t>
            </a:r>
          </a:p>
        </p:txBody>
      </p:sp>
      <p:sp>
        <p:nvSpPr>
          <p:cNvPr id="46" name="Rectangle 45"/>
          <p:cNvSpPr/>
          <p:nvPr/>
        </p:nvSpPr>
        <p:spPr>
          <a:xfrm>
            <a:off x="8503920" y="4434840"/>
            <a:ext cx="3502152" cy="338328"/>
          </a:xfrm>
          <a:prstGeom prst="rect">
            <a:avLst/>
          </a:prstGeom>
          <a:solidFill>
            <a:srgbClr val="201605"/>
          </a:solidFill>
          <a:ln w="508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77072" y="4480560"/>
            <a:ext cx="3401568" cy="237744"/>
          </a:xfrm>
          <a:prstGeom prst="rect">
            <a:avLst/>
          </a:prstGeom>
          <a:noFill/>
        </p:spPr>
        <p:txBody>
          <a:bodyPr wrap="square">
            <a:spAutoFit/>
          </a:bodyPr>
          <a:lstStyle/>
          <a:p>
            <a:pPr algn="l">
              <a:spcBef>
                <a:spcPts val="0"/>
              </a:spcBef>
              <a:spcAft>
                <a:spcPts val="100"/>
              </a:spcAft>
            </a:pPr>
            <a:r>
              <a:rPr sz="750" b="1" i="0">
                <a:solidFill>
                  <a:srgbClr val="F59E0B"/>
                </a:solidFill>
              </a:rPr>
              <a:t>Moderate  →  sanitise</a:t>
            </a:r>
          </a:p>
        </p:txBody>
      </p:sp>
      <p:sp>
        <p:nvSpPr>
          <p:cNvPr id="48" name="Rectangle 47"/>
          <p:cNvSpPr/>
          <p:nvPr/>
        </p:nvSpPr>
        <p:spPr>
          <a:xfrm>
            <a:off x="365760" y="4910327"/>
            <a:ext cx="8046720" cy="521207"/>
          </a:xfrm>
          <a:prstGeom prst="rect">
            <a:avLst/>
          </a:prstGeom>
          <a:solidFill>
            <a:srgbClr val="001C30"/>
          </a:solidFill>
          <a:ln w="6350">
            <a:solidFill>
              <a:srgbClr val="00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65760" y="4910327"/>
            <a:ext cx="292608" cy="521207"/>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93192" y="5047488"/>
            <a:ext cx="237744" cy="256032"/>
          </a:xfrm>
          <a:prstGeom prst="rect">
            <a:avLst/>
          </a:prstGeom>
          <a:noFill/>
        </p:spPr>
        <p:txBody>
          <a:bodyPr wrap="square">
            <a:spAutoFit/>
          </a:bodyPr>
          <a:lstStyle/>
          <a:p>
            <a:pPr algn="ctr">
              <a:spcBef>
                <a:spcPts val="0"/>
              </a:spcBef>
              <a:spcAft>
                <a:spcPts val="100"/>
              </a:spcAft>
            </a:pPr>
            <a:r>
              <a:rPr sz="900" b="1" i="0">
                <a:solidFill>
                  <a:srgbClr val="07111F"/>
                </a:solidFill>
              </a:rPr>
              <a:t>7</a:t>
            </a:r>
          </a:p>
        </p:txBody>
      </p:sp>
      <p:sp>
        <p:nvSpPr>
          <p:cNvPr id="51" name="TextBox 50"/>
          <p:cNvSpPr txBox="1"/>
          <p:nvPr/>
        </p:nvSpPr>
        <p:spPr>
          <a:xfrm>
            <a:off x="749808" y="4965191"/>
            <a:ext cx="3474720" cy="219456"/>
          </a:xfrm>
          <a:prstGeom prst="rect">
            <a:avLst/>
          </a:prstGeom>
          <a:noFill/>
        </p:spPr>
        <p:txBody>
          <a:bodyPr wrap="square">
            <a:spAutoFit/>
          </a:bodyPr>
          <a:lstStyle/>
          <a:p>
            <a:pPr algn="l">
              <a:spcBef>
                <a:spcPts val="0"/>
              </a:spcBef>
              <a:spcAft>
                <a:spcPts val="100"/>
              </a:spcAft>
            </a:pPr>
            <a:r>
              <a:rPr sz="800" b="1" i="0">
                <a:solidFill>
                  <a:srgbClr val="00C9FF"/>
                </a:solidFill>
              </a:rPr>
              <a:t>Structure check</a:t>
            </a:r>
          </a:p>
        </p:txBody>
      </p:sp>
      <p:sp>
        <p:nvSpPr>
          <p:cNvPr id="52" name="TextBox 51"/>
          <p:cNvSpPr txBox="1"/>
          <p:nvPr/>
        </p:nvSpPr>
        <p:spPr>
          <a:xfrm>
            <a:off x="749808" y="5166359"/>
            <a:ext cx="6858000" cy="219456"/>
          </a:xfrm>
          <a:prstGeom prst="rect">
            <a:avLst/>
          </a:prstGeom>
          <a:noFill/>
        </p:spPr>
        <p:txBody>
          <a:bodyPr wrap="square">
            <a:spAutoFit/>
          </a:bodyPr>
          <a:lstStyle/>
          <a:p>
            <a:pPr algn="l">
              <a:spcBef>
                <a:spcPts val="0"/>
              </a:spcBef>
              <a:spcAft>
                <a:spcPts val="100"/>
              </a:spcAft>
            </a:pPr>
            <a:r>
              <a:rPr sz="750" b="0" i="0">
                <a:solidFill>
                  <a:srgbClr val="8FABBE"/>
                </a:solidFill>
              </a:rPr>
              <a:t>All 5 sections present? Missing → retry → safe fallback</a:t>
            </a:r>
          </a:p>
        </p:txBody>
      </p:sp>
      <p:sp>
        <p:nvSpPr>
          <p:cNvPr id="53" name="Rectangle 52"/>
          <p:cNvSpPr/>
          <p:nvPr/>
        </p:nvSpPr>
        <p:spPr>
          <a:xfrm>
            <a:off x="8503920" y="5001767"/>
            <a:ext cx="3502152" cy="338328"/>
          </a:xfrm>
          <a:prstGeom prst="rect">
            <a:avLst/>
          </a:prstGeom>
          <a:solidFill>
            <a:srgbClr val="001C30"/>
          </a:solidFill>
          <a:ln w="5080">
            <a:solidFill>
              <a:srgbClr val="00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77072" y="5047488"/>
            <a:ext cx="3401568" cy="237744"/>
          </a:xfrm>
          <a:prstGeom prst="rect">
            <a:avLst/>
          </a:prstGeom>
          <a:noFill/>
        </p:spPr>
        <p:txBody>
          <a:bodyPr wrap="square">
            <a:spAutoFit/>
          </a:bodyPr>
          <a:lstStyle/>
          <a:p>
            <a:pPr algn="l">
              <a:spcBef>
                <a:spcPts val="0"/>
              </a:spcBef>
              <a:spcAft>
                <a:spcPts val="100"/>
              </a:spcAft>
            </a:pPr>
            <a:r>
              <a:rPr sz="750" b="1" i="0">
                <a:solidFill>
                  <a:srgbClr val="00C9FF"/>
                </a:solidFill>
              </a:rPr>
              <a:t>Format  →  retry</a:t>
            </a:r>
          </a:p>
        </p:txBody>
      </p:sp>
      <p:sp>
        <p:nvSpPr>
          <p:cNvPr id="55" name="Rectangle 54"/>
          <p:cNvSpPr/>
          <p:nvPr/>
        </p:nvSpPr>
        <p:spPr>
          <a:xfrm>
            <a:off x="8503920" y="1508760"/>
            <a:ext cx="3502152" cy="1874519"/>
          </a:xfrm>
          <a:prstGeom prst="rect">
            <a:avLst/>
          </a:prstGeom>
          <a:solidFill>
            <a:srgbClr val="052314"/>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95360" y="1636776"/>
            <a:ext cx="3319272" cy="974750"/>
          </a:xfrm>
          <a:prstGeom prst="rect">
            <a:avLst/>
          </a:prstGeom>
          <a:noFill/>
        </p:spPr>
        <p:txBody>
          <a:bodyPr wrap="square">
            <a:spAutoFit/>
          </a:bodyPr>
          <a:lstStyle/>
          <a:p>
            <a:pPr algn="ctr">
              <a:spcBef>
                <a:spcPts val="0"/>
              </a:spcBef>
              <a:spcAft>
                <a:spcPts val="100"/>
              </a:spcAft>
            </a:pPr>
            <a:r>
              <a:rPr sz="2200" b="1" i="0">
                <a:solidFill>
                  <a:srgbClr val="10B981"/>
                </a:solidFill>
              </a:rPr>
              <a:t>0%</a:t>
            </a:r>
          </a:p>
        </p:txBody>
      </p:sp>
      <p:sp>
        <p:nvSpPr>
          <p:cNvPr id="57" name="TextBox 56"/>
          <p:cNvSpPr txBox="1"/>
          <p:nvPr/>
        </p:nvSpPr>
        <p:spPr>
          <a:xfrm>
            <a:off x="8595360" y="2689707"/>
            <a:ext cx="3319272" cy="618591"/>
          </a:xfrm>
          <a:prstGeom prst="rect">
            <a:avLst/>
          </a:prstGeom>
          <a:noFill/>
        </p:spPr>
        <p:txBody>
          <a:bodyPr wrap="square">
            <a:spAutoFit/>
          </a:bodyPr>
          <a:lstStyle/>
          <a:p>
            <a:pPr algn="ctr">
              <a:spcBef>
                <a:spcPts val="0"/>
              </a:spcBef>
              <a:spcAft>
                <a:spcPts val="100"/>
              </a:spcAft>
            </a:pPr>
            <a:r>
              <a:rPr sz="650" b="0" i="0">
                <a:solidFill>
                  <a:srgbClr val="8FABBE"/>
                </a:solidFill>
              </a:rPr>
              <a:t>FINAL UNSAFE OUTPUT RATE
(30 ADVERSARIAL PROFILES)</a:t>
            </a:r>
          </a:p>
        </p:txBody>
      </p:sp>
      <p:sp>
        <p:nvSpPr>
          <p:cNvPr id="58" name="Rectangle 57"/>
          <p:cNvSpPr/>
          <p:nvPr/>
        </p:nvSpPr>
        <p:spPr>
          <a:xfrm>
            <a:off x="8503920" y="3456432"/>
            <a:ext cx="3502152" cy="141732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650224" y="3575303"/>
            <a:ext cx="3246120" cy="219456"/>
          </a:xfrm>
          <a:prstGeom prst="rect">
            <a:avLst/>
          </a:prstGeom>
          <a:noFill/>
        </p:spPr>
        <p:txBody>
          <a:bodyPr wrap="square">
            <a:spAutoFit/>
          </a:bodyPr>
          <a:lstStyle/>
          <a:p>
            <a:pPr algn="l">
              <a:spcBef>
                <a:spcPts val="0"/>
              </a:spcBef>
              <a:spcAft>
                <a:spcPts val="100"/>
              </a:spcAft>
            </a:pPr>
            <a:r>
              <a:rPr sz="700" b="1" i="0">
                <a:solidFill>
                  <a:srgbClr val="00C9FF"/>
                </a:solidFill>
              </a:rPr>
              <a:t>OUTCOME STATES</a:t>
            </a:r>
          </a:p>
        </p:txBody>
      </p:sp>
      <p:sp>
        <p:nvSpPr>
          <p:cNvPr id="60" name="TextBox 59"/>
          <p:cNvSpPr txBox="1"/>
          <p:nvPr/>
        </p:nvSpPr>
        <p:spPr>
          <a:xfrm>
            <a:off x="8650224" y="3803904"/>
            <a:ext cx="3227832" cy="978408"/>
          </a:xfrm>
          <a:prstGeom prst="rect">
            <a:avLst/>
          </a:prstGeom>
          <a:noFill/>
        </p:spPr>
        <p:txBody>
          <a:bodyPr wrap="square">
            <a:spAutoFit/>
          </a:bodyPr>
          <a:lstStyle/>
          <a:p>
            <a:pPr algn="l">
              <a:spcBef>
                <a:spcPts val="0"/>
              </a:spcBef>
              <a:spcAft>
                <a:spcPts val="100"/>
              </a:spcAft>
            </a:pPr>
            <a:r>
              <a:rPr sz="850" b="0" i="0">
                <a:solidFill>
                  <a:srgbClr val="8FABBE"/>
                </a:solidFill>
              </a:rPr>
              <a:t>PASS         No violations — returned as-is  (90%)</a:t>
            </a:r>
          </a:p>
          <a:p>
            <a:pPr algn="l">
              <a:spcBef>
                <a:spcPts val="0"/>
              </a:spcBef>
              <a:spcAft>
                <a:spcPts val="100"/>
              </a:spcAft>
            </a:pPr>
            <a:r>
              <a:rPr sz="850" b="0" i="0">
                <a:solidFill>
                  <a:srgbClr val="8FABBE"/>
                </a:solidFill>
              </a:rPr>
              <a:t>SANITISED  Auto-fixes applied  (10%)</a:t>
            </a:r>
          </a:p>
          <a:p>
            <a:pPr algn="l">
              <a:spcBef>
                <a:spcPts val="0"/>
              </a:spcBef>
              <a:spcAft>
                <a:spcPts val="100"/>
              </a:spcAft>
            </a:pPr>
            <a:r>
              <a:rPr sz="850" b="0" i="0">
                <a:solidFill>
                  <a:srgbClr val="8FABBE"/>
                </a:solidFill>
              </a:rPr>
              <a:t>FALLBACK    Safe template — severe violations  (0%)</a:t>
            </a:r>
          </a:p>
        </p:txBody>
      </p:sp>
      <p:sp>
        <p:nvSpPr>
          <p:cNvPr id="61" name="Rectangle 60"/>
          <p:cNvSpPr/>
          <p:nvPr/>
        </p:nvSpPr>
        <p:spPr>
          <a:xfrm>
            <a:off x="8503920" y="4946904"/>
            <a:ext cx="3502152" cy="1033271"/>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650224" y="5065776"/>
            <a:ext cx="3246120" cy="219456"/>
          </a:xfrm>
          <a:prstGeom prst="rect">
            <a:avLst/>
          </a:prstGeom>
          <a:noFill/>
        </p:spPr>
        <p:txBody>
          <a:bodyPr wrap="square">
            <a:spAutoFit/>
          </a:bodyPr>
          <a:lstStyle/>
          <a:p>
            <a:pPr algn="l">
              <a:spcBef>
                <a:spcPts val="0"/>
              </a:spcBef>
              <a:spcAft>
                <a:spcPts val="100"/>
              </a:spcAft>
            </a:pPr>
            <a:r>
              <a:rPr sz="700" b="1" i="0">
                <a:solidFill>
                  <a:srgbClr val="00C9FF"/>
                </a:solidFill>
              </a:rPr>
              <a:t>WHY RULE-BASED?</a:t>
            </a:r>
          </a:p>
        </p:txBody>
      </p:sp>
      <p:sp>
        <p:nvSpPr>
          <p:cNvPr id="63" name="TextBox 62"/>
          <p:cNvSpPr txBox="1"/>
          <p:nvPr/>
        </p:nvSpPr>
        <p:spPr>
          <a:xfrm>
            <a:off x="8650224" y="5294376"/>
            <a:ext cx="3227832" cy="594360"/>
          </a:xfrm>
          <a:prstGeom prst="rect">
            <a:avLst/>
          </a:prstGeom>
          <a:noFill/>
        </p:spPr>
        <p:txBody>
          <a:bodyPr wrap="square">
            <a:spAutoFit/>
          </a:bodyPr>
          <a:lstStyle/>
          <a:p>
            <a:pPr algn="l">
              <a:spcBef>
                <a:spcPts val="0"/>
              </a:spcBef>
              <a:spcAft>
                <a:spcPts val="100"/>
              </a:spcAft>
            </a:pPr>
            <a:r>
              <a:rPr sz="850" b="0" i="0">
                <a:solidFill>
                  <a:srgbClr val="8FABBE"/>
                </a:solidFill>
              </a:rPr>
              <a:t>Deterministic, fast, auditable. Zero false-negatives on specific dangerous patterns vs probabilistic LLM judge.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LLM EVALUATION — PHASE 6</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Education Quality </a:t>
            </a:r>
            <a:r>
              <a:rPr sz="2600" b="1">
                <a:solidFill>
                  <a:srgbClr val="00C9FF"/>
                </a:solidFill>
              </a:rPr>
              <a:t>Results</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30 held-out profiles (10 Low · 10 Moderate · 10 High) · Qwen3-4B-Instruct-2507 + BGE-M3</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1783080" cy="1261872"/>
          </a:xfrm>
          <a:prstGeom prst="rect">
            <a:avLst/>
          </a:prstGeom>
          <a:solidFill>
            <a:srgbClr val="052314"/>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36776"/>
            <a:ext cx="1600200" cy="656173"/>
          </a:xfrm>
          <a:prstGeom prst="rect">
            <a:avLst/>
          </a:prstGeom>
          <a:noFill/>
        </p:spPr>
        <p:txBody>
          <a:bodyPr wrap="square">
            <a:spAutoFit/>
          </a:bodyPr>
          <a:lstStyle/>
          <a:p>
            <a:pPr algn="ctr">
              <a:spcBef>
                <a:spcPts val="0"/>
              </a:spcBef>
              <a:spcAft>
                <a:spcPts val="100"/>
              </a:spcAft>
            </a:pPr>
            <a:r>
              <a:rPr sz="2200" b="1" i="0">
                <a:solidFill>
                  <a:srgbClr val="10B981"/>
                </a:solidFill>
              </a:rPr>
              <a:t>100%</a:t>
            </a:r>
          </a:p>
        </p:txBody>
      </p:sp>
      <p:sp>
        <p:nvSpPr>
          <p:cNvPr id="8" name="TextBox 7"/>
          <p:cNvSpPr txBox="1"/>
          <p:nvPr/>
        </p:nvSpPr>
        <p:spPr>
          <a:xfrm>
            <a:off x="457200" y="2303739"/>
            <a:ext cx="1600200" cy="416417"/>
          </a:xfrm>
          <a:prstGeom prst="rect">
            <a:avLst/>
          </a:prstGeom>
          <a:noFill/>
        </p:spPr>
        <p:txBody>
          <a:bodyPr wrap="square">
            <a:spAutoFit/>
          </a:bodyPr>
          <a:lstStyle/>
          <a:p>
            <a:pPr algn="ctr">
              <a:spcBef>
                <a:spcPts val="0"/>
              </a:spcBef>
              <a:spcAft>
                <a:spcPts val="100"/>
              </a:spcAft>
            </a:pPr>
            <a:r>
              <a:rPr sz="650" b="0" i="0">
                <a:solidFill>
                  <a:srgbClr val="8FABBE"/>
                </a:solidFill>
              </a:rPr>
              <a:t>FORMAT ADHERENCE</a:t>
            </a:r>
          </a:p>
        </p:txBody>
      </p:sp>
      <p:sp>
        <p:nvSpPr>
          <p:cNvPr id="9" name="Rectangle 8"/>
          <p:cNvSpPr/>
          <p:nvPr/>
        </p:nvSpPr>
        <p:spPr>
          <a:xfrm>
            <a:off x="2258568" y="1508760"/>
            <a:ext cx="1783080" cy="1261872"/>
          </a:xfrm>
          <a:prstGeom prst="rect">
            <a:avLst/>
          </a:prstGeom>
          <a:solidFill>
            <a:srgbClr val="052314"/>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50008" y="1636776"/>
            <a:ext cx="1600200" cy="656173"/>
          </a:xfrm>
          <a:prstGeom prst="rect">
            <a:avLst/>
          </a:prstGeom>
          <a:noFill/>
        </p:spPr>
        <p:txBody>
          <a:bodyPr wrap="square">
            <a:spAutoFit/>
          </a:bodyPr>
          <a:lstStyle/>
          <a:p>
            <a:pPr algn="ctr">
              <a:spcBef>
                <a:spcPts val="0"/>
              </a:spcBef>
              <a:spcAft>
                <a:spcPts val="100"/>
              </a:spcAft>
            </a:pPr>
            <a:r>
              <a:rPr sz="2200" b="1" i="0">
                <a:solidFill>
                  <a:srgbClr val="10B981"/>
                </a:solidFill>
              </a:rPr>
              <a:t>0%</a:t>
            </a:r>
          </a:p>
        </p:txBody>
      </p:sp>
      <p:sp>
        <p:nvSpPr>
          <p:cNvPr id="11" name="TextBox 10"/>
          <p:cNvSpPr txBox="1"/>
          <p:nvPr/>
        </p:nvSpPr>
        <p:spPr>
          <a:xfrm>
            <a:off x="2350008" y="2303739"/>
            <a:ext cx="1600200" cy="416417"/>
          </a:xfrm>
          <a:prstGeom prst="rect">
            <a:avLst/>
          </a:prstGeom>
          <a:noFill/>
        </p:spPr>
        <p:txBody>
          <a:bodyPr wrap="square">
            <a:spAutoFit/>
          </a:bodyPr>
          <a:lstStyle/>
          <a:p>
            <a:pPr algn="ctr">
              <a:spcBef>
                <a:spcPts val="0"/>
              </a:spcBef>
              <a:spcAft>
                <a:spcPts val="100"/>
              </a:spcAft>
            </a:pPr>
            <a:r>
              <a:rPr sz="650" b="0" i="0">
                <a:solidFill>
                  <a:srgbClr val="8FABBE"/>
                </a:solidFill>
              </a:rPr>
              <a:t>FINAL UNSAFE RATE</a:t>
            </a:r>
          </a:p>
        </p:txBody>
      </p:sp>
      <p:sp>
        <p:nvSpPr>
          <p:cNvPr id="12" name="Rectangle 11"/>
          <p:cNvSpPr/>
          <p:nvPr/>
        </p:nvSpPr>
        <p:spPr>
          <a:xfrm>
            <a:off x="4151375" y="1508760"/>
            <a:ext cx="1783080" cy="1261872"/>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42815" y="1636776"/>
            <a:ext cx="1600200" cy="656173"/>
          </a:xfrm>
          <a:prstGeom prst="rect">
            <a:avLst/>
          </a:prstGeom>
          <a:noFill/>
        </p:spPr>
        <p:txBody>
          <a:bodyPr wrap="square">
            <a:spAutoFit/>
          </a:bodyPr>
          <a:lstStyle/>
          <a:p>
            <a:pPr algn="ctr">
              <a:spcBef>
                <a:spcPts val="0"/>
              </a:spcBef>
              <a:spcAft>
                <a:spcPts val="100"/>
              </a:spcAft>
            </a:pPr>
            <a:r>
              <a:rPr sz="2200" b="1" i="0">
                <a:solidFill>
                  <a:srgbClr val="00C9FF"/>
                </a:solidFill>
              </a:rPr>
              <a:t>96.6%</a:t>
            </a:r>
          </a:p>
        </p:txBody>
      </p:sp>
      <p:sp>
        <p:nvSpPr>
          <p:cNvPr id="14" name="TextBox 13"/>
          <p:cNvSpPr txBox="1"/>
          <p:nvPr/>
        </p:nvSpPr>
        <p:spPr>
          <a:xfrm>
            <a:off x="4242815" y="2303739"/>
            <a:ext cx="1600200" cy="416417"/>
          </a:xfrm>
          <a:prstGeom prst="rect">
            <a:avLst/>
          </a:prstGeom>
          <a:noFill/>
        </p:spPr>
        <p:txBody>
          <a:bodyPr wrap="square">
            <a:spAutoFit/>
          </a:bodyPr>
          <a:lstStyle/>
          <a:p>
            <a:pPr algn="ctr">
              <a:spcBef>
                <a:spcPts val="0"/>
              </a:spcBef>
              <a:spcAft>
                <a:spcPts val="100"/>
              </a:spcAft>
            </a:pPr>
            <a:r>
              <a:rPr sz="650" b="0" i="0">
                <a:solidFill>
                  <a:srgbClr val="8FABBE"/>
                </a:solidFill>
              </a:rPr>
              <a:t>FACTOR RELEVANCE</a:t>
            </a:r>
          </a:p>
        </p:txBody>
      </p:sp>
      <p:sp>
        <p:nvSpPr>
          <p:cNvPr id="15" name="Rectangle 14"/>
          <p:cNvSpPr/>
          <p:nvPr/>
        </p:nvSpPr>
        <p:spPr>
          <a:xfrm>
            <a:off x="6044183" y="1508760"/>
            <a:ext cx="1783080" cy="1261872"/>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3" y="1636776"/>
            <a:ext cx="1600200" cy="656173"/>
          </a:xfrm>
          <a:prstGeom prst="rect">
            <a:avLst/>
          </a:prstGeom>
          <a:noFill/>
        </p:spPr>
        <p:txBody>
          <a:bodyPr wrap="square">
            <a:spAutoFit/>
          </a:bodyPr>
          <a:lstStyle/>
          <a:p>
            <a:pPr algn="ctr">
              <a:spcBef>
                <a:spcPts val="0"/>
              </a:spcBef>
              <a:spcAft>
                <a:spcPts val="100"/>
              </a:spcAft>
            </a:pPr>
            <a:r>
              <a:rPr sz="2200" b="1" i="0">
                <a:solidFill>
                  <a:srgbClr val="00C9FF"/>
                </a:solidFill>
              </a:rPr>
              <a:t>1.93/2</a:t>
            </a:r>
          </a:p>
        </p:txBody>
      </p:sp>
      <p:sp>
        <p:nvSpPr>
          <p:cNvPr id="17" name="TextBox 16"/>
          <p:cNvSpPr txBox="1"/>
          <p:nvPr/>
        </p:nvSpPr>
        <p:spPr>
          <a:xfrm>
            <a:off x="6135623" y="2303739"/>
            <a:ext cx="1600200" cy="416417"/>
          </a:xfrm>
          <a:prstGeom prst="rect">
            <a:avLst/>
          </a:prstGeom>
          <a:noFill/>
        </p:spPr>
        <p:txBody>
          <a:bodyPr wrap="square">
            <a:spAutoFit/>
          </a:bodyPr>
          <a:lstStyle/>
          <a:p>
            <a:pPr algn="ctr">
              <a:spcBef>
                <a:spcPts val="0"/>
              </a:spcBef>
              <a:spcAft>
                <a:spcPts val="100"/>
              </a:spcAft>
            </a:pPr>
            <a:r>
              <a:rPr sz="650" b="0" i="0">
                <a:solidFill>
                  <a:srgbClr val="8FABBE"/>
                </a:solidFill>
              </a:rPr>
              <a:t>PERSONALISATION</a:t>
            </a:r>
          </a:p>
        </p:txBody>
      </p:sp>
      <p:sp>
        <p:nvSpPr>
          <p:cNvPr id="18" name="Rectangle 17"/>
          <p:cNvSpPr/>
          <p:nvPr/>
        </p:nvSpPr>
        <p:spPr>
          <a:xfrm>
            <a:off x="7936992" y="1508760"/>
            <a:ext cx="1783080" cy="1261872"/>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28431" y="1636776"/>
            <a:ext cx="1600200" cy="656173"/>
          </a:xfrm>
          <a:prstGeom prst="rect">
            <a:avLst/>
          </a:prstGeom>
          <a:noFill/>
        </p:spPr>
        <p:txBody>
          <a:bodyPr wrap="square">
            <a:spAutoFit/>
          </a:bodyPr>
          <a:lstStyle/>
          <a:p>
            <a:pPr algn="ctr">
              <a:spcBef>
                <a:spcPts val="0"/>
              </a:spcBef>
              <a:spcAft>
                <a:spcPts val="100"/>
              </a:spcAft>
            </a:pPr>
            <a:r>
              <a:rPr sz="2200" b="1" i="0">
                <a:solidFill>
                  <a:srgbClr val="00C9FF"/>
                </a:solidFill>
              </a:rPr>
              <a:t>6.9</a:t>
            </a:r>
          </a:p>
        </p:txBody>
      </p:sp>
      <p:sp>
        <p:nvSpPr>
          <p:cNvPr id="20" name="TextBox 19"/>
          <p:cNvSpPr txBox="1"/>
          <p:nvPr/>
        </p:nvSpPr>
        <p:spPr>
          <a:xfrm>
            <a:off x="8028431" y="2303739"/>
            <a:ext cx="1600200" cy="416417"/>
          </a:xfrm>
          <a:prstGeom prst="rect">
            <a:avLst/>
          </a:prstGeom>
          <a:noFill/>
        </p:spPr>
        <p:txBody>
          <a:bodyPr wrap="square">
            <a:spAutoFit/>
          </a:bodyPr>
          <a:lstStyle/>
          <a:p>
            <a:pPr algn="ctr">
              <a:spcBef>
                <a:spcPts val="0"/>
              </a:spcBef>
              <a:spcAft>
                <a:spcPts val="100"/>
              </a:spcAft>
            </a:pPr>
            <a:r>
              <a:rPr sz="650" b="0" i="0">
                <a:solidFill>
                  <a:srgbClr val="8FABBE"/>
                </a:solidFill>
              </a:rPr>
              <a:t>READABILITY (FK GR.)</a:t>
            </a:r>
          </a:p>
        </p:txBody>
      </p:sp>
      <p:sp>
        <p:nvSpPr>
          <p:cNvPr id="21" name="Rectangle 20"/>
          <p:cNvSpPr/>
          <p:nvPr/>
        </p:nvSpPr>
        <p:spPr>
          <a:xfrm>
            <a:off x="9829800" y="1508760"/>
            <a:ext cx="1783080" cy="1261872"/>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21240" y="1636776"/>
            <a:ext cx="1600200" cy="656173"/>
          </a:xfrm>
          <a:prstGeom prst="rect">
            <a:avLst/>
          </a:prstGeom>
          <a:noFill/>
        </p:spPr>
        <p:txBody>
          <a:bodyPr wrap="square">
            <a:spAutoFit/>
          </a:bodyPr>
          <a:lstStyle/>
          <a:p>
            <a:pPr algn="ctr">
              <a:spcBef>
                <a:spcPts val="0"/>
              </a:spcBef>
              <a:spcAft>
                <a:spcPts val="100"/>
              </a:spcAft>
            </a:pPr>
            <a:r>
              <a:rPr sz="2200" b="1" i="0">
                <a:solidFill>
                  <a:srgbClr val="00C9FF"/>
                </a:solidFill>
              </a:rPr>
              <a:t>100%</a:t>
            </a:r>
          </a:p>
        </p:txBody>
      </p:sp>
      <p:sp>
        <p:nvSpPr>
          <p:cNvPr id="23" name="TextBox 22"/>
          <p:cNvSpPr txBox="1"/>
          <p:nvPr/>
        </p:nvSpPr>
        <p:spPr>
          <a:xfrm>
            <a:off x="9921240" y="2303739"/>
            <a:ext cx="1600200" cy="416417"/>
          </a:xfrm>
          <a:prstGeom prst="rect">
            <a:avLst/>
          </a:prstGeom>
          <a:noFill/>
        </p:spPr>
        <p:txBody>
          <a:bodyPr wrap="square">
            <a:spAutoFit/>
          </a:bodyPr>
          <a:lstStyle/>
          <a:p>
            <a:pPr algn="ctr">
              <a:spcBef>
                <a:spcPts val="0"/>
              </a:spcBef>
              <a:spcAft>
                <a:spcPts val="100"/>
              </a:spcAft>
            </a:pPr>
            <a:r>
              <a:rPr sz="650" b="0" i="0">
                <a:solidFill>
                  <a:srgbClr val="8FABBE"/>
                </a:solidFill>
              </a:rPr>
              <a:t>GROUNDING RATE</a:t>
            </a:r>
          </a:p>
        </p:txBody>
      </p:sp>
      <p:sp>
        <p:nvSpPr>
          <p:cNvPr id="24" name="Rectangle 23"/>
          <p:cNvSpPr/>
          <p:nvPr/>
        </p:nvSpPr>
        <p:spPr>
          <a:xfrm>
            <a:off x="365760" y="2907792"/>
            <a:ext cx="5394960" cy="169164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 y="3026664"/>
            <a:ext cx="5138928" cy="219456"/>
          </a:xfrm>
          <a:prstGeom prst="rect">
            <a:avLst/>
          </a:prstGeom>
          <a:noFill/>
        </p:spPr>
        <p:txBody>
          <a:bodyPr wrap="square">
            <a:spAutoFit/>
          </a:bodyPr>
          <a:lstStyle/>
          <a:p>
            <a:pPr algn="l">
              <a:spcBef>
                <a:spcPts val="0"/>
              </a:spcBef>
              <a:spcAft>
                <a:spcPts val="100"/>
              </a:spcAft>
            </a:pPr>
            <a:r>
              <a:rPr sz="700" b="1" i="0">
                <a:solidFill>
                  <a:srgbClr val="00C9FF"/>
                </a:solidFill>
              </a:rPr>
              <a:t>SCORING METHOD</a:t>
            </a:r>
          </a:p>
        </p:txBody>
      </p:sp>
      <p:sp>
        <p:nvSpPr>
          <p:cNvPr id="26" name="TextBox 25"/>
          <p:cNvSpPr txBox="1"/>
          <p:nvPr/>
        </p:nvSpPr>
        <p:spPr>
          <a:xfrm>
            <a:off x="512064" y="3255264"/>
            <a:ext cx="5120640" cy="1252728"/>
          </a:xfrm>
          <a:prstGeom prst="rect">
            <a:avLst/>
          </a:prstGeom>
          <a:noFill/>
        </p:spPr>
        <p:txBody>
          <a:bodyPr wrap="square">
            <a:spAutoFit/>
          </a:bodyPr>
          <a:lstStyle/>
          <a:p>
            <a:pPr algn="l">
              <a:spcBef>
                <a:spcPts val="0"/>
              </a:spcBef>
              <a:spcAft>
                <a:spcPts val="100"/>
              </a:spcAft>
            </a:pPr>
            <a:r>
              <a:rPr sz="850" b="0" i="0">
                <a:solidFill>
                  <a:srgbClr val="8FABBE"/>
                </a:solidFill>
              </a:rPr>
              <a:t>Format — all 5 sections present</a:t>
            </a:r>
          </a:p>
          <a:p>
            <a:pPr algn="l">
              <a:spcBef>
                <a:spcPts val="0"/>
              </a:spcBef>
              <a:spcAft>
                <a:spcPts val="100"/>
              </a:spcAft>
            </a:pPr>
            <a:r>
              <a:rPr sz="850" b="0" i="0">
                <a:solidFill>
                  <a:srgbClr val="8FABBE"/>
                </a:solidFill>
              </a:rPr>
              <a:t>Safety — pre and post-validator unsafe patterns detected</a:t>
            </a:r>
          </a:p>
          <a:p>
            <a:pPr algn="l">
              <a:spcBef>
                <a:spcPts val="0"/>
              </a:spcBef>
              <a:spcAft>
                <a:spcPts val="100"/>
              </a:spcAft>
            </a:pPr>
            <a:r>
              <a:rPr sz="850" b="0" i="0">
                <a:solidFill>
                  <a:srgbClr val="8FABBE"/>
                </a:solidFill>
              </a:rPr>
              <a:t>Factor relevance — top-2 ML factors mentioned in text</a:t>
            </a:r>
          </a:p>
          <a:p>
            <a:pPr algn="l">
              <a:spcBef>
                <a:spcPts val="0"/>
              </a:spcBef>
              <a:spcAft>
                <a:spcPts val="100"/>
              </a:spcAft>
            </a:pPr>
            <a:r>
              <a:rPr sz="850" b="0" i="0">
                <a:solidFill>
                  <a:srgbClr val="8FABBE"/>
                </a:solidFill>
              </a:rPr>
              <a:t>Grounding — cited chunk IDs valid in knowledge base</a:t>
            </a:r>
          </a:p>
          <a:p>
            <a:pPr algn="l">
              <a:spcBef>
                <a:spcPts val="0"/>
              </a:spcBef>
              <a:spcAft>
                <a:spcPts val="100"/>
              </a:spcAft>
            </a:pPr>
            <a:r>
              <a:rPr sz="850" b="0" i="0">
                <a:solidFill>
                  <a:srgbClr val="8FABBE"/>
                </a:solidFill>
              </a:rPr>
              <a:t>Personalisation — risk level named (1pt) + ≥1 factor cited (1pt)</a:t>
            </a:r>
          </a:p>
          <a:p>
            <a:pPr algn="l">
              <a:spcBef>
                <a:spcPts val="0"/>
              </a:spcBef>
              <a:spcAft>
                <a:spcPts val="100"/>
              </a:spcAft>
            </a:pPr>
            <a:r>
              <a:rPr sz="850" b="0" i="0">
                <a:solidFill>
                  <a:srgbClr val="8FABBE"/>
                </a:solidFill>
              </a:rPr>
              <a:t>Readability — Flesch-Kincaid grade (target ≤ 8)</a:t>
            </a:r>
          </a:p>
        </p:txBody>
      </p:sp>
      <p:sp>
        <p:nvSpPr>
          <p:cNvPr id="27" name="Rectangle 26"/>
          <p:cNvSpPr/>
          <p:nvPr/>
        </p:nvSpPr>
        <p:spPr>
          <a:xfrm>
            <a:off x="5943600" y="2907792"/>
            <a:ext cx="5696712" cy="1691640"/>
          </a:xfrm>
          <a:prstGeom prst="rect">
            <a:avLst/>
          </a:prstGeom>
          <a:solidFill>
            <a:srgbClr val="052314"/>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43600" y="2907792"/>
            <a:ext cx="50292" cy="1691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53912" y="3026664"/>
            <a:ext cx="5440680" cy="219456"/>
          </a:xfrm>
          <a:prstGeom prst="rect">
            <a:avLst/>
          </a:prstGeom>
          <a:noFill/>
        </p:spPr>
        <p:txBody>
          <a:bodyPr wrap="square">
            <a:spAutoFit/>
          </a:bodyPr>
          <a:lstStyle/>
          <a:p>
            <a:pPr algn="l">
              <a:spcBef>
                <a:spcPts val="0"/>
              </a:spcBef>
              <a:spcAft>
                <a:spcPts val="100"/>
              </a:spcAft>
            </a:pPr>
            <a:r>
              <a:rPr sz="700" b="1" i="0">
                <a:solidFill>
                  <a:srgbClr val="00C9FF"/>
                </a:solidFill>
              </a:rPr>
              <a:t>KEY ACHIEVEMENT — 0% FINAL UNSAFE RATE</a:t>
            </a:r>
          </a:p>
        </p:txBody>
      </p:sp>
      <p:sp>
        <p:nvSpPr>
          <p:cNvPr id="30" name="TextBox 29"/>
          <p:cNvSpPr txBox="1"/>
          <p:nvPr/>
        </p:nvSpPr>
        <p:spPr>
          <a:xfrm>
            <a:off x="6153912" y="3255264"/>
            <a:ext cx="5422392" cy="1252728"/>
          </a:xfrm>
          <a:prstGeom prst="rect">
            <a:avLst/>
          </a:prstGeom>
          <a:noFill/>
        </p:spPr>
        <p:txBody>
          <a:bodyPr wrap="square">
            <a:spAutoFit/>
          </a:bodyPr>
          <a:lstStyle/>
          <a:p>
            <a:pPr algn="l">
              <a:spcBef>
                <a:spcPts val="0"/>
              </a:spcBef>
              <a:spcAft>
                <a:spcPts val="100"/>
              </a:spcAft>
            </a:pPr>
            <a:r>
              <a:rPr sz="850" b="0" i="0">
                <a:solidFill>
                  <a:srgbClr val="8FABBE"/>
                </a:solidFill>
              </a:rPr>
              <a:t>Raw unsafe rate before validation was 10% (emergency-BP cases). The safety validator intercepted and fixed all 10% via auto-prepend — no information loss, no fallback, no content removed.  Final unsafe rate on the full 30-profile adversarial set: 0%.</a:t>
            </a:r>
          </a:p>
        </p:txBody>
      </p:sp>
      <p:sp>
        <p:nvSpPr>
          <p:cNvPr id="31" name="Rectangle 30"/>
          <p:cNvSpPr/>
          <p:nvPr/>
        </p:nvSpPr>
        <p:spPr>
          <a:xfrm>
            <a:off x="365760" y="4681728"/>
            <a:ext cx="539496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2064" y="4800600"/>
            <a:ext cx="5138928" cy="219456"/>
          </a:xfrm>
          <a:prstGeom prst="rect">
            <a:avLst/>
          </a:prstGeom>
          <a:noFill/>
        </p:spPr>
        <p:txBody>
          <a:bodyPr wrap="square">
            <a:spAutoFit/>
          </a:bodyPr>
          <a:lstStyle/>
          <a:p>
            <a:pPr algn="l">
              <a:spcBef>
                <a:spcPts val="0"/>
              </a:spcBef>
              <a:spcAft>
                <a:spcPts val="100"/>
              </a:spcAft>
            </a:pPr>
            <a:r>
              <a:rPr sz="700" b="1" i="0">
                <a:solidFill>
                  <a:srgbClr val="00C9FF"/>
                </a:solidFill>
              </a:rPr>
              <a:t>READABILITY TARGET MET</a:t>
            </a:r>
          </a:p>
        </p:txBody>
      </p:sp>
      <p:sp>
        <p:nvSpPr>
          <p:cNvPr id="33" name="TextBox 32"/>
          <p:cNvSpPr txBox="1"/>
          <p:nvPr/>
        </p:nvSpPr>
        <p:spPr>
          <a:xfrm>
            <a:off x="512064" y="5029200"/>
            <a:ext cx="5120640" cy="859536"/>
          </a:xfrm>
          <a:prstGeom prst="rect">
            <a:avLst/>
          </a:prstGeom>
          <a:noFill/>
        </p:spPr>
        <p:txBody>
          <a:bodyPr wrap="square">
            <a:spAutoFit/>
          </a:bodyPr>
          <a:lstStyle/>
          <a:p>
            <a:pPr algn="l">
              <a:spcBef>
                <a:spcPts val="0"/>
              </a:spcBef>
              <a:spcAft>
                <a:spcPts val="100"/>
              </a:spcAft>
            </a:pPr>
            <a:r>
              <a:rPr sz="850" b="0" i="0">
                <a:solidFill>
                  <a:srgbClr val="8FABBE"/>
                </a:solidFill>
              </a:rPr>
              <a:t>Mean Flesch-Kincaid grade 6.9 (target ≤ 8).  100% of outputs at or below grade 8 — appropriate for general adult health communication.</a:t>
            </a:r>
          </a:p>
        </p:txBody>
      </p:sp>
      <p:sp>
        <p:nvSpPr>
          <p:cNvPr id="34" name="Rectangle 33"/>
          <p:cNvSpPr/>
          <p:nvPr/>
        </p:nvSpPr>
        <p:spPr>
          <a:xfrm>
            <a:off x="5943600" y="4681728"/>
            <a:ext cx="5696712"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9904" y="4800600"/>
            <a:ext cx="5440680" cy="219456"/>
          </a:xfrm>
          <a:prstGeom prst="rect">
            <a:avLst/>
          </a:prstGeom>
          <a:noFill/>
        </p:spPr>
        <p:txBody>
          <a:bodyPr wrap="square">
            <a:spAutoFit/>
          </a:bodyPr>
          <a:lstStyle/>
          <a:p>
            <a:pPr algn="l">
              <a:spcBef>
                <a:spcPts val="0"/>
              </a:spcBef>
              <a:spcAft>
                <a:spcPts val="100"/>
              </a:spcAft>
            </a:pPr>
            <a:r>
              <a:rPr sz="700" b="1" i="0">
                <a:solidFill>
                  <a:srgbClr val="00C9FF"/>
                </a:solidFill>
              </a:rPr>
              <a:t>PERSONALISATION CONFIRMED</a:t>
            </a:r>
          </a:p>
        </p:txBody>
      </p:sp>
      <p:sp>
        <p:nvSpPr>
          <p:cNvPr id="36" name="TextBox 35"/>
          <p:cNvSpPr txBox="1"/>
          <p:nvPr/>
        </p:nvSpPr>
        <p:spPr>
          <a:xfrm>
            <a:off x="6089904" y="5029200"/>
            <a:ext cx="5422392" cy="859536"/>
          </a:xfrm>
          <a:prstGeom prst="rect">
            <a:avLst/>
          </a:prstGeom>
          <a:noFill/>
        </p:spPr>
        <p:txBody>
          <a:bodyPr wrap="square">
            <a:spAutoFit/>
          </a:bodyPr>
          <a:lstStyle/>
          <a:p>
            <a:pPr algn="l">
              <a:spcBef>
                <a:spcPts val="0"/>
              </a:spcBef>
              <a:spcAft>
                <a:spcPts val="100"/>
              </a:spcAft>
            </a:pPr>
            <a:r>
              <a:rPr sz="850" b="0" i="0">
                <a:solidFill>
                  <a:srgbClr val="8FABBE"/>
                </a:solidFill>
              </a:rPr>
              <a:t>Mean score 1.93 / 2 — near-perfect.  Achieved by injecting Patient Profile + per-section PERSONALISATION REQUIREMENTS and fixing the Safety Rule 5 contradiction that previously enforced generic advice.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RESEARCH CONTRIBUTION</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00C9FF"/>
                </a:solidFill>
              </a:rPr>
              <a:t>Novel </a:t>
            </a:r>
            <a:r>
              <a:rPr sz="2600" b="1">
                <a:solidFill>
                  <a:srgbClr val="FFFFFF"/>
                </a:solidFill>
              </a:rPr>
              <a:t>Contributions</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What Nephro-AI does that existing work does not</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486400" cy="219456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50292" cy="219456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1627631"/>
            <a:ext cx="5230368" cy="219456"/>
          </a:xfrm>
          <a:prstGeom prst="rect">
            <a:avLst/>
          </a:prstGeom>
          <a:noFill/>
        </p:spPr>
        <p:txBody>
          <a:bodyPr wrap="square">
            <a:spAutoFit/>
          </a:bodyPr>
          <a:lstStyle/>
          <a:p>
            <a:pPr algn="l">
              <a:spcBef>
                <a:spcPts val="0"/>
              </a:spcBef>
              <a:spcAft>
                <a:spcPts val="100"/>
              </a:spcAft>
            </a:pPr>
            <a:r>
              <a:rPr sz="700" b="1" i="0">
                <a:solidFill>
                  <a:srgbClr val="00C9FF"/>
                </a:solidFill>
              </a:rPr>
              <a:t>① NON-INVASIVE FEATURE SET</a:t>
            </a:r>
          </a:p>
        </p:txBody>
      </p:sp>
      <p:sp>
        <p:nvSpPr>
          <p:cNvPr id="9" name="TextBox 8"/>
          <p:cNvSpPr txBox="1"/>
          <p:nvPr/>
        </p:nvSpPr>
        <p:spPr>
          <a:xfrm>
            <a:off x="576072" y="1856231"/>
            <a:ext cx="5212080" cy="1755648"/>
          </a:xfrm>
          <a:prstGeom prst="rect">
            <a:avLst/>
          </a:prstGeom>
          <a:noFill/>
        </p:spPr>
        <p:txBody>
          <a:bodyPr wrap="square">
            <a:spAutoFit/>
          </a:bodyPr>
          <a:lstStyle/>
          <a:p>
            <a:pPr algn="l">
              <a:spcBef>
                <a:spcPts val="0"/>
              </a:spcBef>
              <a:spcAft>
                <a:spcPts val="100"/>
              </a:spcAft>
            </a:pPr>
            <a:r>
              <a:rPr sz="850" b="0" i="0">
                <a:solidFill>
                  <a:srgbClr val="8FABBE"/>
                </a:solidFill>
              </a:rPr>
              <a:t>All existing ML CKD detection models use eGFR or creatinine as inputs. Nephro-AI is trained exclusively on routine, non-creatinine features — enabling community-level pre-screening for the first time.</a:t>
            </a:r>
          </a:p>
        </p:txBody>
      </p:sp>
      <p:sp>
        <p:nvSpPr>
          <p:cNvPr id="10" name="Rectangle 9"/>
          <p:cNvSpPr/>
          <p:nvPr/>
        </p:nvSpPr>
        <p:spPr>
          <a:xfrm>
            <a:off x="6153912" y="1508760"/>
            <a:ext cx="5486400" cy="219456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53912" y="1508760"/>
            <a:ext cx="50292" cy="219456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627631"/>
            <a:ext cx="5230368" cy="219456"/>
          </a:xfrm>
          <a:prstGeom prst="rect">
            <a:avLst/>
          </a:prstGeom>
          <a:noFill/>
        </p:spPr>
        <p:txBody>
          <a:bodyPr wrap="square">
            <a:spAutoFit/>
          </a:bodyPr>
          <a:lstStyle/>
          <a:p>
            <a:pPr algn="l">
              <a:spcBef>
                <a:spcPts val="0"/>
              </a:spcBef>
              <a:spcAft>
                <a:spcPts val="100"/>
              </a:spcAft>
            </a:pPr>
            <a:r>
              <a:rPr sz="700" b="1" i="0">
                <a:solidFill>
                  <a:srgbClr val="00C9FF"/>
                </a:solidFill>
              </a:rPr>
              <a:t>② KDIGO-ALIGNED TWO-STAGE CASCADE</a:t>
            </a:r>
          </a:p>
        </p:txBody>
      </p:sp>
      <p:sp>
        <p:nvSpPr>
          <p:cNvPr id="13" name="TextBox 12"/>
          <p:cNvSpPr txBox="1"/>
          <p:nvPr/>
        </p:nvSpPr>
        <p:spPr>
          <a:xfrm>
            <a:off x="6364224" y="1856231"/>
            <a:ext cx="5212080" cy="1755648"/>
          </a:xfrm>
          <a:prstGeom prst="rect">
            <a:avLst/>
          </a:prstGeom>
          <a:noFill/>
        </p:spPr>
        <p:txBody>
          <a:bodyPr wrap="square">
            <a:spAutoFit/>
          </a:bodyPr>
          <a:lstStyle/>
          <a:p>
            <a:pPr algn="l">
              <a:spcBef>
                <a:spcPts val="0"/>
              </a:spcBef>
              <a:spcAft>
                <a:spcPts val="100"/>
              </a:spcAft>
            </a:pPr>
            <a:r>
              <a:rPr sz="850" b="0" i="0">
                <a:solidFill>
                  <a:srgbClr val="8FABBE"/>
                </a:solidFill>
              </a:rPr>
              <a:t>RF gate (tuned for recall) → GB discriminator (tuned for precision) maps explicitly to KDIGO risk categories with thresholds optimised to minimise the clinically most dangerous error: High→Low misses.</a:t>
            </a:r>
          </a:p>
        </p:txBody>
      </p:sp>
      <p:sp>
        <p:nvSpPr>
          <p:cNvPr id="14" name="Rectangle 13"/>
          <p:cNvSpPr/>
          <p:nvPr/>
        </p:nvSpPr>
        <p:spPr>
          <a:xfrm>
            <a:off x="365760" y="3840479"/>
            <a:ext cx="5486400" cy="219456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840479"/>
            <a:ext cx="50292" cy="219456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 y="3959351"/>
            <a:ext cx="5230368" cy="219456"/>
          </a:xfrm>
          <a:prstGeom prst="rect">
            <a:avLst/>
          </a:prstGeom>
          <a:noFill/>
        </p:spPr>
        <p:txBody>
          <a:bodyPr wrap="square">
            <a:spAutoFit/>
          </a:bodyPr>
          <a:lstStyle/>
          <a:p>
            <a:pPr algn="l">
              <a:spcBef>
                <a:spcPts val="0"/>
              </a:spcBef>
              <a:spcAft>
                <a:spcPts val="100"/>
              </a:spcAft>
            </a:pPr>
            <a:r>
              <a:rPr sz="700" b="1" i="0">
                <a:solidFill>
                  <a:srgbClr val="00C9FF"/>
                </a:solidFill>
              </a:rPr>
              <a:t>③ FACTOR-AWARE PERSONALISED RAG</a:t>
            </a:r>
          </a:p>
        </p:txBody>
      </p:sp>
      <p:sp>
        <p:nvSpPr>
          <p:cNvPr id="17" name="TextBox 16"/>
          <p:cNvSpPr txBox="1"/>
          <p:nvPr/>
        </p:nvSpPr>
        <p:spPr>
          <a:xfrm>
            <a:off x="576072" y="4187951"/>
            <a:ext cx="5212080" cy="1755648"/>
          </a:xfrm>
          <a:prstGeom prst="rect">
            <a:avLst/>
          </a:prstGeom>
          <a:noFill/>
        </p:spPr>
        <p:txBody>
          <a:bodyPr wrap="square">
            <a:spAutoFit/>
          </a:bodyPr>
          <a:lstStyle/>
          <a:p>
            <a:pPr algn="l">
              <a:spcBef>
                <a:spcPts val="0"/>
              </a:spcBef>
              <a:spcAft>
                <a:spcPts val="100"/>
              </a:spcAft>
            </a:pPr>
            <a:r>
              <a:rPr sz="850" b="0" i="0">
                <a:solidFill>
                  <a:srgbClr val="8FABBE"/>
                </a:solidFill>
              </a:rPr>
              <a:t>Rather than top-k by similarity (which returns the same chunks for all patients), the retriever builds a per-patient topic priority list from ML explanation factors — guaranteeing different patients receive different guideline grounding.</a:t>
            </a:r>
          </a:p>
        </p:txBody>
      </p:sp>
      <p:sp>
        <p:nvSpPr>
          <p:cNvPr id="18" name="Rectangle 17"/>
          <p:cNvSpPr/>
          <p:nvPr/>
        </p:nvSpPr>
        <p:spPr>
          <a:xfrm>
            <a:off x="6153912" y="3840479"/>
            <a:ext cx="5486400" cy="219456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3840479"/>
            <a:ext cx="50292" cy="219456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4224" y="3959351"/>
            <a:ext cx="5230368" cy="219456"/>
          </a:xfrm>
          <a:prstGeom prst="rect">
            <a:avLst/>
          </a:prstGeom>
          <a:noFill/>
        </p:spPr>
        <p:txBody>
          <a:bodyPr wrap="square">
            <a:spAutoFit/>
          </a:bodyPr>
          <a:lstStyle/>
          <a:p>
            <a:pPr algn="l">
              <a:spcBef>
                <a:spcPts val="0"/>
              </a:spcBef>
              <a:spcAft>
                <a:spcPts val="100"/>
              </a:spcAft>
            </a:pPr>
            <a:r>
              <a:rPr sz="700" b="1" i="0">
                <a:solidFill>
                  <a:srgbClr val="00C9FF"/>
                </a:solidFill>
              </a:rPr>
              <a:t>④ SAFETY-SCOPED KNOWLEDGE BASE</a:t>
            </a:r>
          </a:p>
        </p:txBody>
      </p:sp>
      <p:sp>
        <p:nvSpPr>
          <p:cNvPr id="21" name="TextBox 20"/>
          <p:cNvSpPr txBox="1"/>
          <p:nvPr/>
        </p:nvSpPr>
        <p:spPr>
          <a:xfrm>
            <a:off x="6364224" y="4187951"/>
            <a:ext cx="5212080" cy="1755648"/>
          </a:xfrm>
          <a:prstGeom prst="rect">
            <a:avLst/>
          </a:prstGeom>
          <a:noFill/>
        </p:spPr>
        <p:txBody>
          <a:bodyPr wrap="square">
            <a:spAutoFit/>
          </a:bodyPr>
          <a:lstStyle/>
          <a:p>
            <a:pPr algn="l">
              <a:spcBef>
                <a:spcPts val="0"/>
              </a:spcBef>
              <a:spcAft>
                <a:spcPts val="100"/>
              </a:spcAft>
            </a:pPr>
            <a:r>
              <a:rPr sz="850" b="0" i="0">
                <a:solidFill>
                  <a:srgbClr val="8FABBE"/>
                </a:solidFill>
              </a:rPr>
              <a:t>Chunks with individualised numeric targets (protein, potassium, sodium) are tagged RESTRICTED and served with a dietitian-referral override — preserved for reference but never cited as direct patient advice.</a:t>
            </a:r>
          </a:p>
        </p:txBody>
      </p:sp>
      <p:sp>
        <p:nvSpPr>
          <p:cNvPr id="22" name="Rectangle 21"/>
          <p:cNvSpPr/>
          <p:nvPr/>
        </p:nvSpPr>
        <p:spPr>
          <a:xfrm>
            <a:off x="365760" y="6172200"/>
            <a:ext cx="5486400" cy="219456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6172200"/>
            <a:ext cx="50292" cy="219456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72" y="6291072"/>
            <a:ext cx="5230368" cy="219456"/>
          </a:xfrm>
          <a:prstGeom prst="rect">
            <a:avLst/>
          </a:prstGeom>
          <a:noFill/>
        </p:spPr>
        <p:txBody>
          <a:bodyPr wrap="square">
            <a:spAutoFit/>
          </a:bodyPr>
          <a:lstStyle/>
          <a:p>
            <a:pPr algn="l">
              <a:spcBef>
                <a:spcPts val="0"/>
              </a:spcBef>
              <a:spcAft>
                <a:spcPts val="100"/>
              </a:spcAft>
            </a:pPr>
            <a:r>
              <a:rPr sz="700" b="1" i="0">
                <a:solidFill>
                  <a:srgbClr val="00C9FF"/>
                </a:solidFill>
              </a:rPr>
              <a:t>⑤ MULTI-LAYER VALIDATOR — MEASURED 0% UNSAFE RATE</a:t>
            </a:r>
          </a:p>
        </p:txBody>
      </p:sp>
      <p:sp>
        <p:nvSpPr>
          <p:cNvPr id="25" name="TextBox 24"/>
          <p:cNvSpPr txBox="1"/>
          <p:nvPr/>
        </p:nvSpPr>
        <p:spPr>
          <a:xfrm>
            <a:off x="576072" y="6519672"/>
            <a:ext cx="5212080" cy="1755648"/>
          </a:xfrm>
          <a:prstGeom prst="rect">
            <a:avLst/>
          </a:prstGeom>
          <a:noFill/>
        </p:spPr>
        <p:txBody>
          <a:bodyPr wrap="square">
            <a:spAutoFit/>
          </a:bodyPr>
          <a:lstStyle/>
          <a:p>
            <a:pPr algn="l">
              <a:spcBef>
                <a:spcPts val="0"/>
              </a:spcBef>
              <a:spcAft>
                <a:spcPts val="100"/>
              </a:spcAft>
            </a:pPr>
            <a:r>
              <a:rPr sz="850" b="0" i="0">
                <a:solidFill>
                  <a:srgbClr val="8FABBE"/>
                </a:solidFill>
              </a:rPr>
              <a:t>A 7-layer deterministic rule engine (not probabilistic LLM judge) achieves a published 0% final unsafe rate on 30 adversarial profiles.  Every decision logged — fully auditable.</a:t>
            </a:r>
          </a:p>
        </p:txBody>
      </p:sp>
      <p:sp>
        <p:nvSpPr>
          <p:cNvPr id="26" name="Rectangle 25"/>
          <p:cNvSpPr/>
          <p:nvPr/>
        </p:nvSpPr>
        <p:spPr>
          <a:xfrm>
            <a:off x="6153912" y="6172200"/>
            <a:ext cx="5486400" cy="2194560"/>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53912" y="6172200"/>
            <a:ext cx="50292" cy="219456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64224" y="6291072"/>
            <a:ext cx="5230368" cy="219456"/>
          </a:xfrm>
          <a:prstGeom prst="rect">
            <a:avLst/>
          </a:prstGeom>
          <a:noFill/>
        </p:spPr>
        <p:txBody>
          <a:bodyPr wrap="square">
            <a:spAutoFit/>
          </a:bodyPr>
          <a:lstStyle/>
          <a:p>
            <a:pPr algn="l">
              <a:spcBef>
                <a:spcPts val="0"/>
              </a:spcBef>
              <a:spcAft>
                <a:spcPts val="100"/>
              </a:spcAft>
            </a:pPr>
            <a:r>
              <a:rPr sz="700" b="1" i="0">
                <a:solidFill>
                  <a:srgbClr val="00C9FF"/>
                </a:solidFill>
              </a:rPr>
              <a:t>⑥ FULL-STACK PATIENT + ADMIN SYSTEM</a:t>
            </a:r>
          </a:p>
        </p:txBody>
      </p:sp>
      <p:sp>
        <p:nvSpPr>
          <p:cNvPr id="29" name="TextBox 28"/>
          <p:cNvSpPr txBox="1"/>
          <p:nvPr/>
        </p:nvSpPr>
        <p:spPr>
          <a:xfrm>
            <a:off x="6364224" y="6519672"/>
            <a:ext cx="5212080" cy="1755648"/>
          </a:xfrm>
          <a:prstGeom prst="rect">
            <a:avLst/>
          </a:prstGeom>
          <a:noFill/>
        </p:spPr>
        <p:txBody>
          <a:bodyPr wrap="square">
            <a:spAutoFit/>
          </a:bodyPr>
          <a:lstStyle/>
          <a:p>
            <a:pPr algn="l">
              <a:spcBef>
                <a:spcPts val="0"/>
              </a:spcBef>
              <a:spcAft>
                <a:spcPts val="100"/>
              </a:spcAft>
            </a:pPr>
            <a:r>
              <a:rPr sz="850" b="0" i="0">
                <a:solidFill>
                  <a:srgbClr val="8FABBE"/>
                </a:solidFill>
              </a:rPr>
              <a:t>Complete web application: patient-facing education view + researcher-facing admin dashboard exposing the full audit trail (probabilities, chunks, validator decisions, frozen evaluation metrics, JSON export).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IMPLEMENTATION</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Technology </a:t>
            </a:r>
            <a:r>
              <a:rPr sz="2600" b="1">
                <a:solidFill>
                  <a:srgbClr val="00C9FF"/>
                </a:solidFill>
              </a:rPr>
              <a:t>Stack</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Production-ready, modular, fully open-source</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81328"/>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572768"/>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FRONTEND</a:t>
            </a:r>
          </a:p>
        </p:txBody>
      </p:sp>
      <p:sp>
        <p:nvSpPr>
          <p:cNvPr id="8" name="TextBox 7"/>
          <p:cNvSpPr txBox="1"/>
          <p:nvPr/>
        </p:nvSpPr>
        <p:spPr>
          <a:xfrm>
            <a:off x="475488" y="1792224"/>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React 18</a:t>
            </a:r>
          </a:p>
        </p:txBody>
      </p:sp>
      <p:sp>
        <p:nvSpPr>
          <p:cNvPr id="9" name="TextBox 8"/>
          <p:cNvSpPr txBox="1"/>
          <p:nvPr/>
        </p:nvSpPr>
        <p:spPr>
          <a:xfrm>
            <a:off x="475488" y="2139696"/>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Vite 5 · Tailwind CSS 3 · Axios</a:t>
            </a:r>
          </a:p>
        </p:txBody>
      </p:sp>
      <p:sp>
        <p:nvSpPr>
          <p:cNvPr id="10" name="Rectangle 9"/>
          <p:cNvSpPr/>
          <p:nvPr/>
        </p:nvSpPr>
        <p:spPr>
          <a:xfrm>
            <a:off x="3218688" y="1481328"/>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28416" y="1572768"/>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BACKEND API</a:t>
            </a:r>
          </a:p>
        </p:txBody>
      </p:sp>
      <p:sp>
        <p:nvSpPr>
          <p:cNvPr id="12" name="TextBox 11"/>
          <p:cNvSpPr txBox="1"/>
          <p:nvPr/>
        </p:nvSpPr>
        <p:spPr>
          <a:xfrm>
            <a:off x="3328416" y="1792224"/>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FastAPI</a:t>
            </a:r>
          </a:p>
        </p:txBody>
      </p:sp>
      <p:sp>
        <p:nvSpPr>
          <p:cNvPr id="13" name="TextBox 12"/>
          <p:cNvSpPr txBox="1"/>
          <p:nvPr/>
        </p:nvSpPr>
        <p:spPr>
          <a:xfrm>
            <a:off x="3328416" y="2139696"/>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Uvicorn · Pydantic v2</a:t>
            </a:r>
          </a:p>
        </p:txBody>
      </p:sp>
      <p:sp>
        <p:nvSpPr>
          <p:cNvPr id="14" name="Rectangle 13"/>
          <p:cNvSpPr/>
          <p:nvPr/>
        </p:nvSpPr>
        <p:spPr>
          <a:xfrm>
            <a:off x="6071616" y="1481328"/>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81344" y="1572768"/>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ML MODEL</a:t>
            </a:r>
          </a:p>
        </p:txBody>
      </p:sp>
      <p:sp>
        <p:nvSpPr>
          <p:cNvPr id="16" name="TextBox 15"/>
          <p:cNvSpPr txBox="1"/>
          <p:nvPr/>
        </p:nvSpPr>
        <p:spPr>
          <a:xfrm>
            <a:off x="6181344" y="1792224"/>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scikit-learn</a:t>
            </a:r>
          </a:p>
        </p:txBody>
      </p:sp>
      <p:sp>
        <p:nvSpPr>
          <p:cNvPr id="17" name="TextBox 16"/>
          <p:cNvSpPr txBox="1"/>
          <p:nvPr/>
        </p:nvSpPr>
        <p:spPr>
          <a:xfrm>
            <a:off x="6181344" y="2139696"/>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imbalanced-learn · joblib · pandas</a:t>
            </a:r>
          </a:p>
        </p:txBody>
      </p:sp>
      <p:sp>
        <p:nvSpPr>
          <p:cNvPr id="18" name="Rectangle 17"/>
          <p:cNvSpPr/>
          <p:nvPr/>
        </p:nvSpPr>
        <p:spPr>
          <a:xfrm>
            <a:off x="8924544" y="1481328"/>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34272" y="1572768"/>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LLM (PRODUCTION)</a:t>
            </a:r>
          </a:p>
        </p:txBody>
      </p:sp>
      <p:sp>
        <p:nvSpPr>
          <p:cNvPr id="20" name="TextBox 19"/>
          <p:cNvSpPr txBox="1"/>
          <p:nvPr/>
        </p:nvSpPr>
        <p:spPr>
          <a:xfrm>
            <a:off x="9034272" y="1792224"/>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Qwen3-4B</a:t>
            </a:r>
          </a:p>
        </p:txBody>
      </p:sp>
      <p:sp>
        <p:nvSpPr>
          <p:cNvPr id="21" name="TextBox 20"/>
          <p:cNvSpPr txBox="1"/>
          <p:nvPr/>
        </p:nvSpPr>
        <p:spPr>
          <a:xfrm>
            <a:off x="9034272" y="2139696"/>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Qwen3-4B-Instruct-2507 via Ollama</a:t>
            </a:r>
          </a:p>
        </p:txBody>
      </p:sp>
      <p:sp>
        <p:nvSpPr>
          <p:cNvPr id="22" name="Rectangle 21"/>
          <p:cNvSpPr/>
          <p:nvPr/>
        </p:nvSpPr>
        <p:spPr>
          <a:xfrm>
            <a:off x="365760" y="2889504"/>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 y="2980944"/>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LLM (OFFLINE)</a:t>
            </a:r>
          </a:p>
        </p:txBody>
      </p:sp>
      <p:sp>
        <p:nvSpPr>
          <p:cNvPr id="24" name="TextBox 23"/>
          <p:cNvSpPr txBox="1"/>
          <p:nvPr/>
        </p:nvSpPr>
        <p:spPr>
          <a:xfrm>
            <a:off x="475488" y="3200400"/>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MockGuidanceModel</a:t>
            </a:r>
          </a:p>
        </p:txBody>
      </p:sp>
      <p:sp>
        <p:nvSpPr>
          <p:cNvPr id="25" name="TextBox 24"/>
          <p:cNvSpPr txBox="1"/>
          <p:nvPr/>
        </p:nvSpPr>
        <p:spPr>
          <a:xfrm>
            <a:off x="475488" y="3547872"/>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Pure Python · No GPU required</a:t>
            </a:r>
          </a:p>
        </p:txBody>
      </p:sp>
      <p:sp>
        <p:nvSpPr>
          <p:cNvPr id="26" name="Rectangle 25"/>
          <p:cNvSpPr/>
          <p:nvPr/>
        </p:nvSpPr>
        <p:spPr>
          <a:xfrm>
            <a:off x="3218688" y="2889504"/>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28416" y="2980944"/>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EMBEDDINGS</a:t>
            </a:r>
          </a:p>
        </p:txBody>
      </p:sp>
      <p:sp>
        <p:nvSpPr>
          <p:cNvPr id="28" name="TextBox 27"/>
          <p:cNvSpPr txBox="1"/>
          <p:nvPr/>
        </p:nvSpPr>
        <p:spPr>
          <a:xfrm>
            <a:off x="3328416" y="3200400"/>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BGE-M3</a:t>
            </a:r>
          </a:p>
        </p:txBody>
      </p:sp>
      <p:sp>
        <p:nvSpPr>
          <p:cNvPr id="29" name="TextBox 28"/>
          <p:cNvSpPr txBox="1"/>
          <p:nvPr/>
        </p:nvSpPr>
        <p:spPr>
          <a:xfrm>
            <a:off x="3328416" y="3547872"/>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BAAI · 1024-d · via Ollama REST API</a:t>
            </a:r>
          </a:p>
        </p:txBody>
      </p:sp>
      <p:sp>
        <p:nvSpPr>
          <p:cNvPr id="30" name="Rectangle 29"/>
          <p:cNvSpPr/>
          <p:nvPr/>
        </p:nvSpPr>
        <p:spPr>
          <a:xfrm>
            <a:off x="6071616" y="2889504"/>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81344" y="2980944"/>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FALLBACK EMBED</a:t>
            </a:r>
          </a:p>
        </p:txBody>
      </p:sp>
      <p:sp>
        <p:nvSpPr>
          <p:cNvPr id="32" name="TextBox 31"/>
          <p:cNvSpPr txBox="1"/>
          <p:nvPr/>
        </p:nvSpPr>
        <p:spPr>
          <a:xfrm>
            <a:off x="6181344" y="3200400"/>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HashingTF-IDF</a:t>
            </a:r>
          </a:p>
        </p:txBody>
      </p:sp>
      <p:sp>
        <p:nvSpPr>
          <p:cNvPr id="33" name="TextBox 32"/>
          <p:cNvSpPr txBox="1"/>
          <p:nvPr/>
        </p:nvSpPr>
        <p:spPr>
          <a:xfrm>
            <a:off x="6181344" y="3547872"/>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Pure Python · 4096-d · Offline</a:t>
            </a:r>
          </a:p>
        </p:txBody>
      </p:sp>
      <p:sp>
        <p:nvSpPr>
          <p:cNvPr id="34" name="Rectangle 33"/>
          <p:cNvSpPr/>
          <p:nvPr/>
        </p:nvSpPr>
        <p:spPr>
          <a:xfrm>
            <a:off x="8924544" y="2889504"/>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34272" y="2980944"/>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VECTOR SEARCH</a:t>
            </a:r>
          </a:p>
        </p:txBody>
      </p:sp>
      <p:sp>
        <p:nvSpPr>
          <p:cNvPr id="36" name="TextBox 35"/>
          <p:cNvSpPr txBox="1"/>
          <p:nvPr/>
        </p:nvSpPr>
        <p:spPr>
          <a:xfrm>
            <a:off x="9034272" y="3200400"/>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FAISS / Custom</a:t>
            </a:r>
          </a:p>
        </p:txBody>
      </p:sp>
      <p:sp>
        <p:nvSpPr>
          <p:cNvPr id="37" name="TextBox 36"/>
          <p:cNvSpPr txBox="1"/>
          <p:nvPr/>
        </p:nvSpPr>
        <p:spPr>
          <a:xfrm>
            <a:off x="9034272" y="3547872"/>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IndexFlatIP · Brute-force cosine</a:t>
            </a:r>
          </a:p>
        </p:txBody>
      </p:sp>
      <p:sp>
        <p:nvSpPr>
          <p:cNvPr id="38" name="Rectangle 37"/>
          <p:cNvSpPr/>
          <p:nvPr/>
        </p:nvSpPr>
        <p:spPr>
          <a:xfrm>
            <a:off x="365760" y="4297680"/>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 y="4389120"/>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SAFETY SYSTEM</a:t>
            </a:r>
          </a:p>
        </p:txBody>
      </p:sp>
      <p:sp>
        <p:nvSpPr>
          <p:cNvPr id="40" name="TextBox 39"/>
          <p:cNvSpPr txBox="1"/>
          <p:nvPr/>
        </p:nvSpPr>
        <p:spPr>
          <a:xfrm>
            <a:off x="475488" y="4608576"/>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Rule Validator</a:t>
            </a:r>
          </a:p>
        </p:txBody>
      </p:sp>
      <p:sp>
        <p:nvSpPr>
          <p:cNvPr id="41" name="TextBox 40"/>
          <p:cNvSpPr txBox="1"/>
          <p:nvPr/>
        </p:nvSpPr>
        <p:spPr>
          <a:xfrm>
            <a:off x="475488" y="4956048"/>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Pure Python · Regex · Stdlib only</a:t>
            </a:r>
          </a:p>
        </p:txBody>
      </p:sp>
      <p:sp>
        <p:nvSpPr>
          <p:cNvPr id="42" name="Rectangle 41"/>
          <p:cNvSpPr/>
          <p:nvPr/>
        </p:nvSpPr>
        <p:spPr>
          <a:xfrm>
            <a:off x="3218688" y="4297680"/>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28416" y="4389120"/>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DATABASE</a:t>
            </a:r>
          </a:p>
        </p:txBody>
      </p:sp>
      <p:sp>
        <p:nvSpPr>
          <p:cNvPr id="44" name="TextBox 43"/>
          <p:cNvSpPr txBox="1"/>
          <p:nvPr/>
        </p:nvSpPr>
        <p:spPr>
          <a:xfrm>
            <a:off x="3328416" y="4608576"/>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PostgreSQL</a:t>
            </a:r>
          </a:p>
        </p:txBody>
      </p:sp>
      <p:sp>
        <p:nvSpPr>
          <p:cNvPr id="45" name="TextBox 44"/>
          <p:cNvSpPr txBox="1"/>
          <p:nvPr/>
        </p:nvSpPr>
        <p:spPr>
          <a:xfrm>
            <a:off x="3328416" y="4956048"/>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SQLAlchemy ORM · Alembic migrations</a:t>
            </a:r>
          </a:p>
        </p:txBody>
      </p:sp>
      <p:sp>
        <p:nvSpPr>
          <p:cNvPr id="46" name="Rectangle 45"/>
          <p:cNvSpPr/>
          <p:nvPr/>
        </p:nvSpPr>
        <p:spPr>
          <a:xfrm>
            <a:off x="6071616" y="4297680"/>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81344" y="4389120"/>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TRAINING DATA</a:t>
            </a:r>
          </a:p>
        </p:txBody>
      </p:sp>
      <p:sp>
        <p:nvSpPr>
          <p:cNvPr id="48" name="TextBox 47"/>
          <p:cNvSpPr txBox="1"/>
          <p:nvPr/>
        </p:nvSpPr>
        <p:spPr>
          <a:xfrm>
            <a:off x="6181344" y="4608576"/>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NHANES 2021–23</a:t>
            </a:r>
          </a:p>
        </p:txBody>
      </p:sp>
      <p:sp>
        <p:nvSpPr>
          <p:cNvPr id="49" name="TextBox 48"/>
          <p:cNvSpPr txBox="1"/>
          <p:nvPr/>
        </p:nvSpPr>
        <p:spPr>
          <a:xfrm>
            <a:off x="6181344" y="4956048"/>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CDC / NCHS · Public Domain</a:t>
            </a:r>
          </a:p>
        </p:txBody>
      </p:sp>
      <p:sp>
        <p:nvSpPr>
          <p:cNvPr id="50" name="Rectangle 49"/>
          <p:cNvSpPr/>
          <p:nvPr/>
        </p:nvSpPr>
        <p:spPr>
          <a:xfrm>
            <a:off x="8924544" y="4297680"/>
            <a:ext cx="2743200" cy="129844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34272" y="4389120"/>
            <a:ext cx="2560320" cy="201168"/>
          </a:xfrm>
          <a:prstGeom prst="rect">
            <a:avLst/>
          </a:prstGeom>
          <a:noFill/>
        </p:spPr>
        <p:txBody>
          <a:bodyPr wrap="square">
            <a:spAutoFit/>
          </a:bodyPr>
          <a:lstStyle/>
          <a:p>
            <a:pPr algn="l">
              <a:spcBef>
                <a:spcPts val="0"/>
              </a:spcBef>
              <a:spcAft>
                <a:spcPts val="100"/>
              </a:spcAft>
            </a:pPr>
            <a:r>
              <a:rPr sz="600" b="1" i="0">
                <a:solidFill>
                  <a:srgbClr val="8FABBE"/>
                </a:solidFill>
              </a:rPr>
              <a:t>KNOWLEDGE BASE</a:t>
            </a:r>
          </a:p>
        </p:txBody>
      </p:sp>
      <p:sp>
        <p:nvSpPr>
          <p:cNvPr id="52" name="TextBox 51"/>
          <p:cNvSpPr txBox="1"/>
          <p:nvPr/>
        </p:nvSpPr>
        <p:spPr>
          <a:xfrm>
            <a:off x="9034272" y="4608576"/>
            <a:ext cx="2560320" cy="329184"/>
          </a:xfrm>
          <a:prstGeom prst="rect">
            <a:avLst/>
          </a:prstGeom>
          <a:noFill/>
        </p:spPr>
        <p:txBody>
          <a:bodyPr wrap="square">
            <a:spAutoFit/>
          </a:bodyPr>
          <a:lstStyle/>
          <a:p>
            <a:pPr algn="l">
              <a:spcBef>
                <a:spcPts val="0"/>
              </a:spcBef>
              <a:spcAft>
                <a:spcPts val="100"/>
              </a:spcAft>
            </a:pPr>
            <a:r>
              <a:rPr sz="1000" b="1" i="0">
                <a:solidFill>
                  <a:srgbClr val="00C9FF"/>
                </a:solidFill>
              </a:rPr>
              <a:t>KDIGO · ADA · NKF · CDC</a:t>
            </a:r>
          </a:p>
        </p:txBody>
      </p:sp>
      <p:sp>
        <p:nvSpPr>
          <p:cNvPr id="53" name="TextBox 52"/>
          <p:cNvSpPr txBox="1"/>
          <p:nvPr/>
        </p:nvSpPr>
        <p:spPr>
          <a:xfrm>
            <a:off x="9034272" y="4956048"/>
            <a:ext cx="2560320" cy="502920"/>
          </a:xfrm>
          <a:prstGeom prst="rect">
            <a:avLst/>
          </a:prstGeom>
          <a:noFill/>
        </p:spPr>
        <p:txBody>
          <a:bodyPr wrap="square">
            <a:spAutoFit/>
          </a:bodyPr>
          <a:lstStyle/>
          <a:p>
            <a:pPr algn="l">
              <a:spcBef>
                <a:spcPts val="0"/>
              </a:spcBef>
              <a:spcAft>
                <a:spcPts val="100"/>
              </a:spcAft>
            </a:pPr>
            <a:r>
              <a:rPr sz="750" b="0" i="0">
                <a:solidFill>
                  <a:srgbClr val="8FABBE"/>
                </a:solidFill>
              </a:rPr>
              <a:t>9 guideline sources · 118 chunks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ROADMAP</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Future </a:t>
            </a:r>
            <a:r>
              <a:rPr sz="2600" b="1">
                <a:solidFill>
                  <a:srgbClr val="00C9FF"/>
                </a:solidFill>
              </a:rPr>
              <a:t>Work</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Extensions planned for the full research paper and clinical pilot study</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81328"/>
            <a:ext cx="3657600" cy="230428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3401568" cy="219456"/>
          </a:xfrm>
          <a:prstGeom prst="rect">
            <a:avLst/>
          </a:prstGeom>
          <a:noFill/>
        </p:spPr>
        <p:txBody>
          <a:bodyPr wrap="square">
            <a:spAutoFit/>
          </a:bodyPr>
          <a:lstStyle/>
          <a:p>
            <a:pPr algn="l">
              <a:spcBef>
                <a:spcPts val="0"/>
              </a:spcBef>
              <a:spcAft>
                <a:spcPts val="100"/>
              </a:spcAft>
            </a:pPr>
            <a:r>
              <a:rPr sz="700" b="1" i="0">
                <a:solidFill>
                  <a:srgbClr val="00C9FF"/>
                </a:solidFill>
              </a:rPr>
              <a:t>🎛️ QLORA FINE-TUNING</a:t>
            </a:r>
          </a:p>
        </p:txBody>
      </p:sp>
      <p:sp>
        <p:nvSpPr>
          <p:cNvPr id="8" name="TextBox 7"/>
          <p:cNvSpPr txBox="1"/>
          <p:nvPr/>
        </p:nvSpPr>
        <p:spPr>
          <a:xfrm>
            <a:off x="512064" y="1828800"/>
            <a:ext cx="3383280" cy="1865376"/>
          </a:xfrm>
          <a:prstGeom prst="rect">
            <a:avLst/>
          </a:prstGeom>
          <a:noFill/>
        </p:spPr>
        <p:txBody>
          <a:bodyPr wrap="square">
            <a:spAutoFit/>
          </a:bodyPr>
          <a:lstStyle/>
          <a:p>
            <a:pPr algn="l">
              <a:spcBef>
                <a:spcPts val="0"/>
              </a:spcBef>
              <a:spcAft>
                <a:spcPts val="100"/>
              </a:spcAft>
            </a:pPr>
            <a:r>
              <a:rPr sz="850" b="0" i="0">
                <a:solidFill>
                  <a:srgbClr val="8FABBE"/>
                </a:solidFill>
              </a:rPr>
              <a:t>Fine-tune Qwen3-4B on RAFT-generated training examples (question, correct guideline chunk, distractor). Expected to improve safety self-containment and output consistency beyond prompt engineering alone.</a:t>
            </a:r>
          </a:p>
        </p:txBody>
      </p:sp>
      <p:sp>
        <p:nvSpPr>
          <p:cNvPr id="9" name="Rectangle 8"/>
          <p:cNvSpPr/>
          <p:nvPr/>
        </p:nvSpPr>
        <p:spPr>
          <a:xfrm>
            <a:off x="4174236" y="1481328"/>
            <a:ext cx="3657600" cy="230428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20540" y="1600200"/>
            <a:ext cx="3401568" cy="219456"/>
          </a:xfrm>
          <a:prstGeom prst="rect">
            <a:avLst/>
          </a:prstGeom>
          <a:noFill/>
        </p:spPr>
        <p:txBody>
          <a:bodyPr wrap="square">
            <a:spAutoFit/>
          </a:bodyPr>
          <a:lstStyle/>
          <a:p>
            <a:pPr algn="l">
              <a:spcBef>
                <a:spcPts val="0"/>
              </a:spcBef>
              <a:spcAft>
                <a:spcPts val="100"/>
              </a:spcAft>
            </a:pPr>
            <a:r>
              <a:rPr sz="700" b="1" i="0">
                <a:solidFill>
                  <a:srgbClr val="00C9FF"/>
                </a:solidFill>
              </a:rPr>
              <a:t>👨‍⚕️ EXPERT CLINICAL EVALUATION</a:t>
            </a:r>
          </a:p>
        </p:txBody>
      </p:sp>
      <p:sp>
        <p:nvSpPr>
          <p:cNvPr id="11" name="TextBox 10"/>
          <p:cNvSpPr txBox="1"/>
          <p:nvPr/>
        </p:nvSpPr>
        <p:spPr>
          <a:xfrm>
            <a:off x="4320540" y="1828800"/>
            <a:ext cx="3383280" cy="1865376"/>
          </a:xfrm>
          <a:prstGeom prst="rect">
            <a:avLst/>
          </a:prstGeom>
          <a:noFill/>
        </p:spPr>
        <p:txBody>
          <a:bodyPr wrap="square">
            <a:spAutoFit/>
          </a:bodyPr>
          <a:lstStyle/>
          <a:p>
            <a:pPr algn="l">
              <a:spcBef>
                <a:spcPts val="0"/>
              </a:spcBef>
              <a:spcAft>
                <a:spcPts val="100"/>
              </a:spcAft>
            </a:pPr>
            <a:r>
              <a:rPr sz="850" b="0" i="0">
                <a:solidFill>
                  <a:srgbClr val="8FABBE"/>
                </a:solidFill>
              </a:rPr>
              <a:t>Structured review of LLM outputs by nephrologists and renal dietitians using a standardised rubric — clinical accuracy, safety, appropriateness. Required before any real-world deployment.</a:t>
            </a:r>
          </a:p>
        </p:txBody>
      </p:sp>
      <p:sp>
        <p:nvSpPr>
          <p:cNvPr id="12" name="Rectangle 11"/>
          <p:cNvSpPr/>
          <p:nvPr/>
        </p:nvSpPr>
        <p:spPr>
          <a:xfrm>
            <a:off x="7982712" y="1481328"/>
            <a:ext cx="3657600" cy="230428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9016" y="1600200"/>
            <a:ext cx="3401568" cy="219456"/>
          </a:xfrm>
          <a:prstGeom prst="rect">
            <a:avLst/>
          </a:prstGeom>
          <a:noFill/>
        </p:spPr>
        <p:txBody>
          <a:bodyPr wrap="square">
            <a:spAutoFit/>
          </a:bodyPr>
          <a:lstStyle/>
          <a:p>
            <a:pPr algn="l">
              <a:spcBef>
                <a:spcPts val="0"/>
              </a:spcBef>
              <a:spcAft>
                <a:spcPts val="100"/>
              </a:spcAft>
            </a:pPr>
            <a:r>
              <a:rPr sz="700" b="1" i="0">
                <a:solidFill>
                  <a:srgbClr val="00C9FF"/>
                </a:solidFill>
              </a:rPr>
              <a:t>🌍 POPULATION GENERALISATION</a:t>
            </a:r>
          </a:p>
        </p:txBody>
      </p:sp>
      <p:sp>
        <p:nvSpPr>
          <p:cNvPr id="14" name="TextBox 13"/>
          <p:cNvSpPr txBox="1"/>
          <p:nvPr/>
        </p:nvSpPr>
        <p:spPr>
          <a:xfrm>
            <a:off x="8129016" y="1828800"/>
            <a:ext cx="3383280" cy="1865376"/>
          </a:xfrm>
          <a:prstGeom prst="rect">
            <a:avLst/>
          </a:prstGeom>
          <a:noFill/>
        </p:spPr>
        <p:txBody>
          <a:bodyPr wrap="square">
            <a:spAutoFit/>
          </a:bodyPr>
          <a:lstStyle/>
          <a:p>
            <a:pPr algn="l">
              <a:spcBef>
                <a:spcPts val="0"/>
              </a:spcBef>
              <a:spcAft>
                <a:spcPts val="100"/>
              </a:spcAft>
            </a:pPr>
            <a:r>
              <a:rPr sz="850" b="0" i="0">
                <a:solidFill>
                  <a:srgbClr val="8FABBE"/>
                </a:solidFill>
              </a:rPr>
              <a:t>Validate on non-US datasets (South Asian, European, low-income country populations) where prevalence, comorbidity patterns, and reference ranges may differ from NHANES.</a:t>
            </a:r>
          </a:p>
        </p:txBody>
      </p:sp>
      <p:sp>
        <p:nvSpPr>
          <p:cNvPr id="15" name="Rectangle 14"/>
          <p:cNvSpPr/>
          <p:nvPr/>
        </p:nvSpPr>
        <p:spPr>
          <a:xfrm>
            <a:off x="365760" y="3931920"/>
            <a:ext cx="3657600" cy="230428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4050792"/>
            <a:ext cx="3401568" cy="219456"/>
          </a:xfrm>
          <a:prstGeom prst="rect">
            <a:avLst/>
          </a:prstGeom>
          <a:noFill/>
        </p:spPr>
        <p:txBody>
          <a:bodyPr wrap="square">
            <a:spAutoFit/>
          </a:bodyPr>
          <a:lstStyle/>
          <a:p>
            <a:pPr algn="l">
              <a:spcBef>
                <a:spcPts val="0"/>
              </a:spcBef>
              <a:spcAft>
                <a:spcPts val="100"/>
              </a:spcAft>
            </a:pPr>
            <a:r>
              <a:rPr sz="700" b="1" i="0">
                <a:solidFill>
                  <a:srgbClr val="00C9FF"/>
                </a:solidFill>
              </a:rPr>
              <a:t>📈 LONGITUDINAL RISK TRACKING</a:t>
            </a:r>
          </a:p>
        </p:txBody>
      </p:sp>
      <p:sp>
        <p:nvSpPr>
          <p:cNvPr id="17" name="TextBox 16"/>
          <p:cNvSpPr txBox="1"/>
          <p:nvPr/>
        </p:nvSpPr>
        <p:spPr>
          <a:xfrm>
            <a:off x="512064" y="4279392"/>
            <a:ext cx="3383280" cy="1865376"/>
          </a:xfrm>
          <a:prstGeom prst="rect">
            <a:avLst/>
          </a:prstGeom>
          <a:noFill/>
        </p:spPr>
        <p:txBody>
          <a:bodyPr wrap="square">
            <a:spAutoFit/>
          </a:bodyPr>
          <a:lstStyle/>
          <a:p>
            <a:pPr algn="l">
              <a:spcBef>
                <a:spcPts val="0"/>
              </a:spcBef>
              <a:spcAft>
                <a:spcPts val="100"/>
              </a:spcAft>
            </a:pPr>
            <a:r>
              <a:rPr sz="850" b="0" i="0">
                <a:solidFill>
                  <a:srgbClr val="8FABBE"/>
                </a:solidFill>
              </a:rPr>
              <a:t>Track serial screening results over time to detect deteriorating trends, trigger earlier follow-up, and measure whether patient education is changing behaviour.</a:t>
            </a:r>
          </a:p>
        </p:txBody>
      </p:sp>
      <p:sp>
        <p:nvSpPr>
          <p:cNvPr id="18" name="Rectangle 17"/>
          <p:cNvSpPr/>
          <p:nvPr/>
        </p:nvSpPr>
        <p:spPr>
          <a:xfrm>
            <a:off x="4174236" y="3931920"/>
            <a:ext cx="3657600" cy="230428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540" y="4050792"/>
            <a:ext cx="3401568" cy="219456"/>
          </a:xfrm>
          <a:prstGeom prst="rect">
            <a:avLst/>
          </a:prstGeom>
          <a:noFill/>
        </p:spPr>
        <p:txBody>
          <a:bodyPr wrap="square">
            <a:spAutoFit/>
          </a:bodyPr>
          <a:lstStyle/>
          <a:p>
            <a:pPr algn="l">
              <a:spcBef>
                <a:spcPts val="0"/>
              </a:spcBef>
              <a:spcAft>
                <a:spcPts val="100"/>
              </a:spcAft>
            </a:pPr>
            <a:r>
              <a:rPr sz="700" b="1" i="0">
                <a:solidFill>
                  <a:srgbClr val="00C9FF"/>
                </a:solidFill>
              </a:rPr>
              <a:t>🌐 MULTILINGUAL SUPPORT</a:t>
            </a:r>
          </a:p>
        </p:txBody>
      </p:sp>
      <p:sp>
        <p:nvSpPr>
          <p:cNvPr id="20" name="TextBox 19"/>
          <p:cNvSpPr txBox="1"/>
          <p:nvPr/>
        </p:nvSpPr>
        <p:spPr>
          <a:xfrm>
            <a:off x="4320540" y="4279392"/>
            <a:ext cx="3383280" cy="1865376"/>
          </a:xfrm>
          <a:prstGeom prst="rect">
            <a:avLst/>
          </a:prstGeom>
          <a:noFill/>
        </p:spPr>
        <p:txBody>
          <a:bodyPr wrap="square">
            <a:spAutoFit/>
          </a:bodyPr>
          <a:lstStyle/>
          <a:p>
            <a:pPr algn="l">
              <a:spcBef>
                <a:spcPts val="0"/>
              </a:spcBef>
              <a:spcAft>
                <a:spcPts val="100"/>
              </a:spcAft>
            </a:pPr>
            <a:r>
              <a:rPr sz="850" b="0" i="0">
                <a:solidFill>
                  <a:srgbClr val="8FABBE"/>
                </a:solidFill>
              </a:rPr>
              <a:t>Bengali, Hindi, and Arabic patient education — targeting the populations most underserved by existing English-only kidney health materials.  BGE-M3 already supports multilingual retrieval.</a:t>
            </a:r>
          </a:p>
        </p:txBody>
      </p:sp>
      <p:sp>
        <p:nvSpPr>
          <p:cNvPr id="21" name="Rectangle 20"/>
          <p:cNvSpPr/>
          <p:nvPr/>
        </p:nvSpPr>
        <p:spPr>
          <a:xfrm>
            <a:off x="7982712" y="3931920"/>
            <a:ext cx="3657600" cy="2304288"/>
          </a:xfrm>
          <a:prstGeom prst="rect">
            <a:avLst/>
          </a:prstGeom>
          <a:solidFill>
            <a:srgbClr val="0D1A2E"/>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9016" y="4050792"/>
            <a:ext cx="3401568" cy="219456"/>
          </a:xfrm>
          <a:prstGeom prst="rect">
            <a:avLst/>
          </a:prstGeom>
          <a:noFill/>
        </p:spPr>
        <p:txBody>
          <a:bodyPr wrap="square">
            <a:spAutoFit/>
          </a:bodyPr>
          <a:lstStyle/>
          <a:p>
            <a:pPr algn="l">
              <a:spcBef>
                <a:spcPts val="0"/>
              </a:spcBef>
              <a:spcAft>
                <a:spcPts val="100"/>
              </a:spcAft>
            </a:pPr>
            <a:r>
              <a:rPr sz="700" b="1" i="0">
                <a:solidFill>
                  <a:srgbClr val="00C9FF"/>
                </a:solidFill>
              </a:rPr>
              <a:t>📦 PACKAGED DEPLOYMENT</a:t>
            </a:r>
          </a:p>
        </p:txBody>
      </p:sp>
      <p:sp>
        <p:nvSpPr>
          <p:cNvPr id="23" name="TextBox 22"/>
          <p:cNvSpPr txBox="1"/>
          <p:nvPr/>
        </p:nvSpPr>
        <p:spPr>
          <a:xfrm>
            <a:off x="8129016" y="4279392"/>
            <a:ext cx="3383280" cy="1865376"/>
          </a:xfrm>
          <a:prstGeom prst="rect">
            <a:avLst/>
          </a:prstGeom>
          <a:noFill/>
        </p:spPr>
        <p:txBody>
          <a:bodyPr wrap="square">
            <a:spAutoFit/>
          </a:bodyPr>
          <a:lstStyle/>
          <a:p>
            <a:pPr algn="l">
              <a:spcBef>
                <a:spcPts val="0"/>
              </a:spcBef>
              <a:spcAft>
                <a:spcPts val="100"/>
              </a:spcAft>
            </a:pPr>
            <a:r>
              <a:rPr sz="850" b="0" i="0">
                <a:solidFill>
                  <a:srgbClr val="8FABBE"/>
                </a:solidFill>
              </a:rPr>
              <a:t>GGUF quantised model (Q4_K_M, ~3 GB) distributed with the app so any clinician can run the full system on a standard laptop — no cloud dependency, no patient data leaving the device.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111F"/>
        </a:solidFill>
        <a:effectLst/>
      </p:bgPr>
    </p:bg>
    <p:spTree>
      <p:nvGrpSpPr>
        <p:cNvPr id="1" name=""/>
        <p:cNvGrpSpPr/>
        <p:nvPr/>
      </p:nvGrpSpPr>
      <p:grpSpPr/>
      <p:sp>
        <p:nvSpPr>
          <p:cNvPr id="2" name="TextBox 1"/>
          <p:cNvSpPr txBox="1"/>
          <p:nvPr/>
        </p:nvSpPr>
        <p:spPr>
          <a:xfrm>
            <a:off x="365760" y="182880"/>
            <a:ext cx="11430000" cy="274320"/>
          </a:xfrm>
          <a:prstGeom prst="rect">
            <a:avLst/>
          </a:prstGeom>
          <a:noFill/>
        </p:spPr>
        <p:txBody>
          <a:bodyPr wrap="square">
            <a:spAutoFit/>
          </a:bodyPr>
          <a:lstStyle/>
          <a:p>
            <a:pPr algn="l">
              <a:spcBef>
                <a:spcPts val="0"/>
              </a:spcBef>
              <a:spcAft>
                <a:spcPts val="100"/>
              </a:spcAft>
            </a:pPr>
            <a:r>
              <a:rPr sz="750" b="1" i="0">
                <a:solidFill>
                  <a:srgbClr val="00C9FF"/>
                </a:solidFill>
              </a:rPr>
              <a:t>CONCLUSION</a:t>
            </a:r>
          </a:p>
        </p:txBody>
      </p:sp>
      <p:sp>
        <p:nvSpPr>
          <p:cNvPr id="3" name="TextBox 2"/>
          <p:cNvSpPr txBox="1"/>
          <p:nvPr/>
        </p:nvSpPr>
        <p:spPr>
          <a:xfrm>
            <a:off x="365760" y="420624"/>
            <a:ext cx="11430000" cy="658368"/>
          </a:xfrm>
          <a:prstGeom prst="rect">
            <a:avLst/>
          </a:prstGeom>
          <a:noFill/>
        </p:spPr>
        <p:txBody>
          <a:bodyPr wrap="square">
            <a:spAutoFit/>
          </a:bodyPr>
          <a:lstStyle/>
          <a:p>
            <a:pPr algn="l">
              <a:spcBef>
                <a:spcPts val="0"/>
              </a:spcBef>
              <a:spcAft>
                <a:spcPts val="100"/>
              </a:spcAft>
            </a:pPr>
            <a:r>
              <a:rPr sz="2600" b="1">
                <a:solidFill>
                  <a:srgbClr val="FFFFFF"/>
                </a:solidFill>
              </a:rPr>
              <a:t>What We </a:t>
            </a:r>
            <a:r>
              <a:rPr sz="2600" b="1">
                <a:solidFill>
                  <a:srgbClr val="00C9FF"/>
                </a:solidFill>
              </a:rPr>
              <a:t>Achieved</a:t>
            </a:r>
          </a:p>
        </p:txBody>
      </p:sp>
      <p:sp>
        <p:nvSpPr>
          <p:cNvPr id="4" name="TextBox 3"/>
          <p:cNvSpPr txBox="1"/>
          <p:nvPr/>
        </p:nvSpPr>
        <p:spPr>
          <a:xfrm>
            <a:off x="365760" y="1042415"/>
            <a:ext cx="11430000" cy="310896"/>
          </a:xfrm>
          <a:prstGeom prst="rect">
            <a:avLst/>
          </a:prstGeom>
          <a:noFill/>
        </p:spPr>
        <p:txBody>
          <a:bodyPr wrap="square">
            <a:spAutoFit/>
          </a:bodyPr>
          <a:lstStyle/>
          <a:p>
            <a:pPr algn="l">
              <a:spcBef>
                <a:spcPts val="0"/>
              </a:spcBef>
              <a:spcAft>
                <a:spcPts val="100"/>
              </a:spcAft>
            </a:pPr>
            <a:r>
              <a:rPr sz="900" b="0" i="0">
                <a:solidFill>
                  <a:srgbClr val="8FABBE"/>
                </a:solidFill>
              </a:rPr>
              <a:t>Nephro-AI — a complete, evaluated, deployable CKD screening &amp; education system</a:t>
            </a:r>
          </a:p>
        </p:txBody>
      </p:sp>
      <p:sp>
        <p:nvSpPr>
          <p:cNvPr id="5" name="Rectangle 4"/>
          <p:cNvSpPr/>
          <p:nvPr/>
        </p:nvSpPr>
        <p:spPr>
          <a:xfrm>
            <a:off x="365760" y="1344168"/>
            <a:ext cx="11457432" cy="16459"/>
          </a:xfrm>
          <a:prstGeom prst="rect">
            <a:avLst/>
          </a:prstGeom>
          <a:solidFill>
            <a:srgbClr val="23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81328"/>
            <a:ext cx="5486400" cy="2103120"/>
          </a:xfrm>
          <a:prstGeom prst="rect">
            <a:avLst/>
          </a:prstGeom>
          <a:solidFill>
            <a:srgbClr val="052314"/>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81328"/>
            <a:ext cx="50292" cy="2103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1600200"/>
            <a:ext cx="5230368" cy="219456"/>
          </a:xfrm>
          <a:prstGeom prst="rect">
            <a:avLst/>
          </a:prstGeom>
          <a:noFill/>
        </p:spPr>
        <p:txBody>
          <a:bodyPr wrap="square">
            <a:spAutoFit/>
          </a:bodyPr>
          <a:lstStyle/>
          <a:p>
            <a:pPr algn="l">
              <a:spcBef>
                <a:spcPts val="0"/>
              </a:spcBef>
              <a:spcAft>
                <a:spcPts val="100"/>
              </a:spcAft>
            </a:pPr>
            <a:r>
              <a:rPr sz="700" b="1" i="0">
                <a:solidFill>
                  <a:srgbClr val="00C9FF"/>
                </a:solidFill>
              </a:rPr>
              <a:t>✓  NON-INVASIVE CKD SCREENING WORKS</a:t>
            </a:r>
          </a:p>
        </p:txBody>
      </p:sp>
      <p:sp>
        <p:nvSpPr>
          <p:cNvPr id="9" name="TextBox 8"/>
          <p:cNvSpPr txBox="1"/>
          <p:nvPr/>
        </p:nvSpPr>
        <p:spPr>
          <a:xfrm>
            <a:off x="576072" y="1828800"/>
            <a:ext cx="5212080" cy="1664207"/>
          </a:xfrm>
          <a:prstGeom prst="rect">
            <a:avLst/>
          </a:prstGeom>
          <a:noFill/>
        </p:spPr>
        <p:txBody>
          <a:bodyPr wrap="square">
            <a:spAutoFit/>
          </a:bodyPr>
          <a:lstStyle/>
          <a:p>
            <a:pPr algn="l">
              <a:spcBef>
                <a:spcPts val="0"/>
              </a:spcBef>
              <a:spcAft>
                <a:spcPts val="100"/>
              </a:spcAft>
            </a:pPr>
            <a:r>
              <a:rPr sz="850" b="0" i="0">
                <a:solidFill>
                  <a:srgbClr val="8FABBE"/>
                </a:solidFill>
              </a:rPr>
              <a:t>A two-stage ML cascade trained on 22 routine features achieves 71.9% accuracy and 73.7% high-risk recall — without eGFR, creatinine, or UACR.</a:t>
            </a:r>
          </a:p>
        </p:txBody>
      </p:sp>
      <p:sp>
        <p:nvSpPr>
          <p:cNvPr id="10" name="Rectangle 9"/>
          <p:cNvSpPr/>
          <p:nvPr/>
        </p:nvSpPr>
        <p:spPr>
          <a:xfrm>
            <a:off x="6153912" y="1481328"/>
            <a:ext cx="5486400" cy="2103120"/>
          </a:xfrm>
          <a:prstGeom prst="rect">
            <a:avLst/>
          </a:prstGeom>
          <a:solidFill>
            <a:srgbClr val="052314"/>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53912" y="1481328"/>
            <a:ext cx="50292" cy="2103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600200"/>
            <a:ext cx="5230368" cy="219456"/>
          </a:xfrm>
          <a:prstGeom prst="rect">
            <a:avLst/>
          </a:prstGeom>
          <a:noFill/>
        </p:spPr>
        <p:txBody>
          <a:bodyPr wrap="square">
            <a:spAutoFit/>
          </a:bodyPr>
          <a:lstStyle/>
          <a:p>
            <a:pPr algn="l">
              <a:spcBef>
                <a:spcPts val="0"/>
              </a:spcBef>
              <a:spcAft>
                <a:spcPts val="100"/>
              </a:spcAft>
            </a:pPr>
            <a:r>
              <a:rPr sz="700" b="1" i="0">
                <a:solidFill>
                  <a:srgbClr val="00C9FF"/>
                </a:solidFill>
              </a:rPr>
              <a:t>✓  LLMS CAN SAFELY PERSONALISE PATIENT EDUCATION</a:t>
            </a:r>
          </a:p>
        </p:txBody>
      </p:sp>
      <p:sp>
        <p:nvSpPr>
          <p:cNvPr id="13" name="TextBox 12"/>
          <p:cNvSpPr txBox="1"/>
          <p:nvPr/>
        </p:nvSpPr>
        <p:spPr>
          <a:xfrm>
            <a:off x="6364224" y="1828800"/>
            <a:ext cx="5212080" cy="1664207"/>
          </a:xfrm>
          <a:prstGeom prst="rect">
            <a:avLst/>
          </a:prstGeom>
          <a:noFill/>
        </p:spPr>
        <p:txBody>
          <a:bodyPr wrap="square">
            <a:spAutoFit/>
          </a:bodyPr>
          <a:lstStyle/>
          <a:p>
            <a:pPr algn="l">
              <a:spcBef>
                <a:spcPts val="0"/>
              </a:spcBef>
              <a:spcAft>
                <a:spcPts val="100"/>
              </a:spcAft>
            </a:pPr>
            <a:r>
              <a:rPr sz="850" b="0" i="0">
                <a:solidFill>
                  <a:srgbClr val="8FABBE"/>
                </a:solidFill>
              </a:rPr>
              <a:t>Qwen3-4B with factor-aware RAG and condition-specific prompt cues achieves personalisation 1.93/2 and Flesch-Kincaid Grade 6.9 across 30 adversarial profiles.</a:t>
            </a:r>
          </a:p>
        </p:txBody>
      </p:sp>
      <p:sp>
        <p:nvSpPr>
          <p:cNvPr id="14" name="Rectangle 13"/>
          <p:cNvSpPr/>
          <p:nvPr/>
        </p:nvSpPr>
        <p:spPr>
          <a:xfrm>
            <a:off x="365760" y="3749039"/>
            <a:ext cx="5486400" cy="2103120"/>
          </a:xfrm>
          <a:prstGeom prst="rect">
            <a:avLst/>
          </a:prstGeom>
          <a:solidFill>
            <a:srgbClr val="052314"/>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749039"/>
            <a:ext cx="50292" cy="2103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 y="3867911"/>
            <a:ext cx="5230368" cy="219456"/>
          </a:xfrm>
          <a:prstGeom prst="rect">
            <a:avLst/>
          </a:prstGeom>
          <a:noFill/>
        </p:spPr>
        <p:txBody>
          <a:bodyPr wrap="square">
            <a:spAutoFit/>
          </a:bodyPr>
          <a:lstStyle/>
          <a:p>
            <a:pPr algn="l">
              <a:spcBef>
                <a:spcPts val="0"/>
              </a:spcBef>
              <a:spcAft>
                <a:spcPts val="100"/>
              </a:spcAft>
            </a:pPr>
            <a:r>
              <a:rPr sz="700" b="1" i="0">
                <a:solidFill>
                  <a:srgbClr val="00C9FF"/>
                </a:solidFill>
              </a:rPr>
              <a:t>✓  SAFETY VALIDATION ACHIEVES 0% UNSAFE RATE</a:t>
            </a:r>
          </a:p>
        </p:txBody>
      </p:sp>
      <p:sp>
        <p:nvSpPr>
          <p:cNvPr id="17" name="TextBox 16"/>
          <p:cNvSpPr txBox="1"/>
          <p:nvPr/>
        </p:nvSpPr>
        <p:spPr>
          <a:xfrm>
            <a:off x="576072" y="4096511"/>
            <a:ext cx="5212080" cy="1664208"/>
          </a:xfrm>
          <a:prstGeom prst="rect">
            <a:avLst/>
          </a:prstGeom>
          <a:noFill/>
        </p:spPr>
        <p:txBody>
          <a:bodyPr wrap="square">
            <a:spAutoFit/>
          </a:bodyPr>
          <a:lstStyle/>
          <a:p>
            <a:pPr algn="l">
              <a:spcBef>
                <a:spcPts val="0"/>
              </a:spcBef>
              <a:spcAft>
                <a:spcPts val="100"/>
              </a:spcAft>
            </a:pPr>
            <a:r>
              <a:rPr sz="850" b="0" i="0">
                <a:solidFill>
                  <a:srgbClr val="8FABBE"/>
                </a:solidFill>
              </a:rPr>
              <a:t>A 7-layer deterministic rule engine intercepted 100% of pre-validation unsafe outputs with zero information loss — delivering a fully auditable safety guarantee.</a:t>
            </a:r>
          </a:p>
        </p:txBody>
      </p:sp>
      <p:sp>
        <p:nvSpPr>
          <p:cNvPr id="18" name="Rectangle 17"/>
          <p:cNvSpPr/>
          <p:nvPr/>
        </p:nvSpPr>
        <p:spPr>
          <a:xfrm>
            <a:off x="6153912" y="3749039"/>
            <a:ext cx="5486400" cy="2103120"/>
          </a:xfrm>
          <a:prstGeom prst="rect">
            <a:avLst/>
          </a:prstGeom>
          <a:solidFill>
            <a:srgbClr val="052314"/>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3749039"/>
            <a:ext cx="50292" cy="2103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4224" y="3867911"/>
            <a:ext cx="5230368" cy="219456"/>
          </a:xfrm>
          <a:prstGeom prst="rect">
            <a:avLst/>
          </a:prstGeom>
          <a:noFill/>
        </p:spPr>
        <p:txBody>
          <a:bodyPr wrap="square">
            <a:spAutoFit/>
          </a:bodyPr>
          <a:lstStyle/>
          <a:p>
            <a:pPr algn="l">
              <a:spcBef>
                <a:spcPts val="0"/>
              </a:spcBef>
              <a:spcAft>
                <a:spcPts val="100"/>
              </a:spcAft>
            </a:pPr>
            <a:r>
              <a:rPr sz="700" b="1" i="0">
                <a:solidFill>
                  <a:srgbClr val="00C9FF"/>
                </a:solidFill>
              </a:rPr>
              <a:t>✓  COMPLETE END-TO-END SYSTEM DELIVERED</a:t>
            </a:r>
          </a:p>
        </p:txBody>
      </p:sp>
      <p:sp>
        <p:nvSpPr>
          <p:cNvPr id="21" name="TextBox 20"/>
          <p:cNvSpPr txBox="1"/>
          <p:nvPr/>
        </p:nvSpPr>
        <p:spPr>
          <a:xfrm>
            <a:off x="6364224" y="4096511"/>
            <a:ext cx="5212080" cy="1664208"/>
          </a:xfrm>
          <a:prstGeom prst="rect">
            <a:avLst/>
          </a:prstGeom>
          <a:noFill/>
        </p:spPr>
        <p:txBody>
          <a:bodyPr wrap="square">
            <a:spAutoFit/>
          </a:bodyPr>
          <a:lstStyle/>
          <a:p>
            <a:pPr algn="l">
              <a:spcBef>
                <a:spcPts val="0"/>
              </a:spcBef>
              <a:spcAft>
                <a:spcPts val="100"/>
              </a:spcAft>
            </a:pPr>
            <a:r>
              <a:rPr sz="850" b="0" i="0">
                <a:solidFill>
                  <a:srgbClr val="8FABBE"/>
                </a:solidFill>
              </a:rPr>
              <a:t>Production-ready full-stack web app with patient education UI, researcher audit dashboard, dual deployment modes (GPU / CPU), and optional PostgreSQL persistence.</a:t>
            </a:r>
          </a:p>
        </p:txBody>
      </p:sp>
      <p:sp>
        <p:nvSpPr>
          <p:cNvPr id="22" name="Rectangle 21"/>
          <p:cNvSpPr/>
          <p:nvPr/>
        </p:nvSpPr>
        <p:spPr>
          <a:xfrm>
            <a:off x="365760" y="5742432"/>
            <a:ext cx="11457432" cy="713232"/>
          </a:xfrm>
          <a:prstGeom prst="rect">
            <a:avLst/>
          </a:prstGeom>
          <a:solidFill>
            <a:srgbClr val="001C30"/>
          </a:solidFill>
          <a:ln w="9525">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 y="5861304"/>
            <a:ext cx="11183111" cy="502920"/>
          </a:xfrm>
          <a:prstGeom prst="rect">
            <a:avLst/>
          </a:prstGeom>
          <a:noFill/>
        </p:spPr>
        <p:txBody>
          <a:bodyPr wrap="square">
            <a:spAutoFit/>
          </a:bodyPr>
          <a:lstStyle/>
          <a:p>
            <a:pPr algn="l">
              <a:spcBef>
                <a:spcPts val="0"/>
              </a:spcBef>
              <a:spcAft>
                <a:spcPts val="100"/>
              </a:spcAft>
            </a:pPr>
            <a:r>
              <a:rPr sz="850" b="0" i="0">
                <a:solidFill>
                  <a:srgbClr val="8FABBE"/>
                </a:solidFill>
              </a:rPr>
              <a:t>Ready for:   Expert clinical evaluation   ·   Conference / journal paper   ·   Clinical pilot study   ·   QLoRA fine-tuning extension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